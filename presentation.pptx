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56" r:id="rId3"/>
    <p:sldId id="258" r:id="rId4"/>
    <p:sldId id="259" r:id="rId5"/>
    <p:sldId id="264" r:id="rId6"/>
    <p:sldId id="265" r:id="rId7"/>
    <p:sldId id="266" r:id="rId8"/>
    <p:sldId id="267" r:id="rId9"/>
    <p:sldId id="268" r:id="rId10"/>
    <p:sldId id="269" r:id="rId11"/>
    <p:sldId id="270" r:id="rId12"/>
    <p:sldId id="260" r:id="rId13"/>
    <p:sldId id="261" r:id="rId14"/>
    <p:sldId id="273" r:id="rId15"/>
    <p:sldId id="262" r:id="rId16"/>
    <p:sldId id="263" r:id="rId17"/>
    <p:sldId id="274" r:id="rId18"/>
    <p:sldId id="275"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D0B072-B85F-4486-AD9D-50662D55D33E}" v="20" dt="2025-03-26T05:35:34.1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0" autoAdjust="0"/>
    <p:restoredTop sz="94660"/>
  </p:normalViewPr>
  <p:slideViewPr>
    <p:cSldViewPr snapToGrid="0">
      <p:cViewPr varScale="1">
        <p:scale>
          <a:sx n="78" d="100"/>
          <a:sy n="78" d="100"/>
        </p:scale>
        <p:origin x="78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25T18:33:13.124"/>
    </inkml:context>
    <inkml:brush xml:id="br0">
      <inkml:brushProperty name="width" value="0.05" units="cm"/>
      <inkml:brushProperty name="height" value="0.3" units="cm"/>
      <inkml:brushProperty name="color" value="#FFFFFF"/>
      <inkml:brushProperty name="ignorePressure" value="1"/>
      <inkml:brushProperty name="inkEffects" value="pencil"/>
    </inkml:brush>
  </inkml:definitions>
  <inkml:trace contextRef="#ctx0" brushRef="#br0">81 1,'0'3,"0"5,-4 4,0 3,-4 6,-3-1,1-1,-3 4,2 0,3 4,2 3,3 3,1 3,2 4,0 3,0 4,1 0,-1-5,1-2,-1 1,3 0,8 0,2-4,2-4,2-9,1-1,-2-2,-1 3,-3-1,-3 4,-4 3,-2 3,1 3,4-5,0-5,-1-3,1 1,0 3,-2 0,1 2,0-1,2-5,-1 1,2-5,2-5,3-5,1-4,2-3,5 2,4 3,1 3,-4 5,-3 1,-2 3,-1-3,4-4,0-4,1-3,-5-6,-1-3,-3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3:22.485"/>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3:28.750"/>
    </inkml:context>
    <inkml:brush xml:id="br0">
      <inkml:brushProperty name="width" value="0.035" units="cm"/>
      <inkml:brushProperty name="height" value="0.035" units="cm"/>
      <inkml:brushProperty name="color" value="#FFFFFF"/>
    </inkml:brush>
  </inkml:definitions>
  <inkml:trace contextRef="#ctx0" brushRef="#br0">1 3084 24575,'1'0'0,"0"0"0,0-1 0,0 1 0,0 0 0,0-1 0,0 1 0,-1-1 0,1 1 0,0-1 0,0 0 0,0 1 0,-1-1 0,1 0 0,0 0 0,0 1 0,-1-1 0,1 0 0,0-2 0,11-18 0,-10 17 0,11-25 0,-1 1 0,-1-1 0,-2-1 0,9-49 0,-15 59 0,-1 0 0,-1-24 0,-2 36 0,1-1 0,-1 1 0,0-1 0,-1 1 0,0 0 0,-1 0 0,-5-13 0,8 20 0,0 0 0,0 1 0,0-1 0,0 1 0,-1-1 0,1 0 0,0 1 0,0-1 0,-1 1 0,1-1 0,-1 1 0,1-1 0,0 1 0,-1-1 0,1 1 0,-1 0 0,1-1 0,-1 1 0,1 0 0,-1-1 0,1 1 0,-1 0 0,1-1 0,-1 1 0,0 0 0,1 0 0,-1 0 0,0 0 0,0 0 0,0 1 0,1-1 0,-1 1 0,0 0 0,1-1 0,-1 1 0,1 0 0,-1 0 0,1-1 0,0 1 0,-1 0 0,1 0 0,0 0 0,0 0 0,-1-1 0,1 3 0,-5 38 0,5-15 0,4 52 0,-3-69 0,1 0 0,0 0 0,1-1 0,0 1 0,0-1 0,0 0 0,1 1 0,1-2 0,7 13 0,-3-7 0,-2-3 0,0-1 0,0 0 0,10 9 0,-16-17 0,0 0 0,0 0 0,0 1 0,0-1 0,1 0 0,-1 0 0,0-1 0,0 1 0,1 0 0,-1 0 0,1-1 0,-1 1 0,1-1 0,-1 1 0,1-1 0,-1 1 0,1-1 0,0 0 0,-1 0 0,1 0 0,-1 0 0,1 0 0,0 0 0,-1 0 0,1-1 0,-1 1 0,1-1 0,-1 1 0,3-2 0,-2 1 0,0-1 0,0 0 0,-1 0 0,1 0 0,0 0 0,-1 0 0,0 0 0,1 0 0,-1-1 0,0 1 0,0 0 0,0-1 0,0 1 0,0-3 0,7-42 0,-5 28 0,5-33 0,-5 28 0,2 1 0,8-31 0,39-90 0,-49 138 0,-1 0 0,0 0 0,1 1 0,0-1 0,1 1 0,-1 0 0,1 0 0,7-8 0,40-32 0,-10 11 0,-12 8 0,-18 16 0,0 0 0,-1 0 0,0-1 0,13-18 0,-13 15 0,1 0 0,0 1 0,18-15 0,-16 16 0,-1-1 0,21-27 0,-4-1 0,-17 26 0,-1-2 0,0 1 0,-2-1 0,9-19 0,6-29 0,19-87 0,-38 130 0,-3 9 0,1-1 0,1 1 0,0 1 0,1-1 0,12-24 0,-7 19 0,0-1 0,-1-1 0,-1 1 0,10-40 0,9-86 0,-26 136 0,5-17 0,15-48 0,-12 50 0,-2 0 0,6-35 0,-9 39 0,0 0 0,1 0 0,2 1 0,0-1 0,11-19 0,1 2 0,36-52 0,-15 31 0,-3-1 0,37-80 0,-24 47 0,-14 28 0,84-156 0,-43 84 0,-40 66 0,16-34 0,-52 100-170,1 0-1,-1 0 0,0 0 1,0 0-1,0 0 0,-1 0 1,1-6-1,-2-4-6655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3:54.760"/>
    </inkml:context>
    <inkml:brush xml:id="br0">
      <inkml:brushProperty name="width" value="0.035" units="cm"/>
      <inkml:brushProperty name="height" value="0.035" units="cm"/>
      <inkml:brushProperty name="color" value="#FFFFFF"/>
    </inkml:brush>
  </inkml:definitions>
  <inkml:trace contextRef="#ctx0" brushRef="#br0">580 1707 24575,'0'0'0,"-1"0"0,1 0 0,0 0 0,0 0 0,0 0 0,0 0 0,0 0 0,0 0 0,0 0 0,-1 0 0,1 0 0,0 0 0,0 0 0,0-1 0,0 1 0,0 0 0,0 0 0,0 0 0,0 0 0,0 0 0,-1 0 0,1 0 0,0 0 0,0-1 0,0 1 0,0 0 0,0 0 0,0 0 0,0 0 0,0 0 0,0 0 0,0-1 0,0 1 0,0 0 0,0 0 0,0 0 0,0 0 0,0 0 0,0 0 0,0-1 0,0 1 0,0 0 0,0 0 0,0 0 0,0 0 0,1 0 0,-1 0 0,0 0 0,0-1 0,0 1 0,0 0 0,7-11 0,9-11 0,19-15 0,-18 20 0,-2 0 0,18-25 0,-28 35 0,-1 0 0,0-1 0,0 0 0,-1 0 0,0 0 0,0 0 0,-1 0 0,0 0 0,0-1 0,0-8 0,1-37 0,-2 0 0,-6-54 0,5 106 0,-1-1 0,1 1 0,0 0 0,-1 0 0,1-1 0,-1 1 0,0 0 0,0 0 0,0 0 0,0 0 0,0 0 0,0 0 0,-1 0 0,1 0 0,-1 0 0,-2-2 0,3 3 0,-1 0 0,1 0 0,-1 1 0,0-1 0,1 0 0,-1 1 0,0-1 0,0 1 0,0-1 0,1 1 0,-1 0 0,0 0 0,0-1 0,0 2 0,0-1 0,-2 0 0,-1 1 0,0 1 0,0-1 0,0 1 0,0 0 0,0 0 0,1 1 0,-1-1 0,1 1 0,0 0 0,0 0 0,0 1 0,0-1 0,-5 7 0,4-3 0,0 0 0,0 1 0,1 0 0,0 0 0,1 0 0,-1 1 0,1-1 0,1 1 0,0 0 0,0 0 0,0 13 0,0 12 0,4 59 0,0-42 0,19 257 0,-18-278 0,-3-29 0,0 1 0,0 0 0,0-1 0,0 1 0,1 0 0,-1 0 0,1-1 0,-1 1 0,1-1 0,0 1 0,-1 0 0,1-1 0,0 0 0,0 1 0,0-1 0,0 1 0,0-1 0,1 0 0,-1 0 0,0 0 0,1 0 0,-1 0 0,0 0 0,1 0 0,-1 0 0,1 0 0,0 0 0,-1-1 0,1 1 0,0-1 0,-1 0 0,1 1 0,0-1 0,-1 0 0,1 0 0,0 0 0,-1 0 0,1 0 0,0 0 0,0 0 0,-1-1 0,1 1 0,1-1 0,7-2 0,-1 0 0,0 0 0,0 0 0,0-1 0,-1-1 0,15-9 0,-10 4 0,-1 0 0,0-1 0,-1-1 0,0 0 0,0-1 0,-1 0 0,-1 0 0,0-1 0,11-26 0,0-6 0,27-92 0,-16 18 0,21-175 0,-13-129 0,-37 402 0,1-17 0,-3-55 0,0 93 0,0 0 0,0 0 0,-1 0 0,1 0 0,0 0 0,0 0 0,0 0 0,-1 0 0,1 0 0,0 0 0,-1 0 0,1 0 0,-1 1 0,1-1 0,-1 0 0,1 0 0,-1 0 0,0 1 0,1-1 0,-1 0 0,0 0 0,0 1 0,0-1 0,1 1 0,-1-1 0,0 1 0,0-1 0,0 1 0,0 0 0,0-1 0,0 1 0,0 0 0,0 0 0,0-1 0,0 1 0,0 0 0,0 0 0,0 0 0,0 0 0,0 0 0,0 1 0,0-1 0,0 0 0,-2 1 0,-5 2 0,0-1 0,1 2 0,-1-1 0,-10 7 0,-14 10 0,0 1 0,2 1 0,0 2 0,2 1 0,0 1 0,-43 56 0,42-43 0,2 1 0,2 1 0,1 2 0,-34 86 0,36-63 0,3 0 0,3 1 0,2 0 0,3 2 0,4-1 0,2 1 0,9 126 0,-4-192 0,0 0 0,0 0 0,0 0 0,1 0 0,0 0 0,-1 0 0,1 0 0,0 0 0,1 0 0,-1 0 0,0 0 0,3 4 0,-2-6 0,-1-1 0,0 1 0,0 0 0,1 0 0,-1-1 0,1 1 0,-1 0 0,1-1 0,-1 0 0,1 1 0,-1-1 0,1 0 0,-1 0 0,1 1 0,0-1 0,-1-1 0,1 1 0,-1 0 0,1 0 0,-1 0 0,1-1 0,-1 1 0,1-1 0,-1 1 0,1-1 0,1-1 0,9-2 0,0-1 0,-1 0 0,1-1 0,-1 0 0,0-1 0,-1-1 0,0 1 0,0-2 0,0 1 0,9-12 0,-10 9 0,-1-1 0,-1 0 0,0 0 0,0 0 0,-1-1 0,-1 0 0,0 0 0,-1 0 0,5-23 0,-4 3 0,0-1 0,-2 0 0,-2 1 0,-5-60 0,-2 43 0,-2-1 0,-23-74 0,-13-2 0,-90-179 0,127 293 0,0 0 0,2-1 0,0 0 0,0 0 0,1 0 0,-2-20 0,6 34 0,0-1 0,0 1 0,0-1 0,0 1 0,0-1 0,0 1 0,-1-1 0,1 1 0,0-1 0,0 1 0,0 0 0,0-1 0,-1 1 0,1-1 0,0 1 0,0 0 0,-1-1 0,1 1 0,0-1 0,0 1 0,-1 0 0,1-1 0,-1 1 0,1 0 0,0 0 0,-1-1 0,1 1 0,-1 0 0,1 0 0,0 0 0,-1-1 0,1 1 0,-1 0 0,1 0 0,-1 0 0,1 0 0,-1 0 0,1 0 0,0 0 0,-1 0 0,1 0 0,-1 0 0,1 0 0,-1 0 0,0 1 0,-23 10 0,22-10 0,-20 13 0,1 0 0,0 1 0,2 1 0,-1 1 0,2 1 0,0 0 0,-19 28 0,15-15 0,2 0 0,2 1 0,1 1 0,-19 51 0,12-10 0,3 1 0,3 0 0,4 1 0,-5 95 0,-6 255 0,24-413 0,0-6 0,1 0 0,0 0 0,1 13 0,0-19 0,-1 1 0,0-1 0,0 0 0,1 0 0,-1 0 0,0 1 0,1-1 0,-1 0 0,1 0 0,0 0 0,-1 0 0,1 0 0,0 0 0,0 0 0,0 0 0,0 0 0,-1 0 0,1-1 0,0 1 0,0 0 0,1 0 0,-1-1 0,0 1 0,0-1 0,0 1 0,2 0 0,3-1 0,0 1 0,-1-1 0,1 0 0,0 0 0,-1-1 0,1 1 0,0-1 0,-1 0 0,1-1 0,-1 0 0,6-2 0,11-5 0,27-17 0,-44 23 0,30-18-1,-1-2 0,-1-1 0,-2-2 0,0-1-1,-2-2 1,-1-1 0,-1 0 0,29-45 0,11-28-548,75-156 1,192-461 326,-323 691 222,4-5 0,-2-1 0,-2-1 0,12-65 0,-22 100-2,-1-1-1,0 0 1,0 0 0,0 0-1,0 0 1,0 1-1,0-1 1,0 0-1,0 0 1,-1 0-1,1 1 1,-1-1 0,0 0-1,1 1 1,-1-1-1,0 0 1,-1-2-1,0 3 12,1 0 0,0 0-1,0 0 1,0 1 0,-1-1-1,1 0 1,0 0 0,-1 1-1,1-1 1,-1 1-1,1-1 1,0 1 0,-1 0-1,1-1 1,-1 1 0,-2 0-1,-5 1 160,-1 0-1,1 0 1,0 1-1,0 1 0,-13 4 1,-7 4-120,1 2 0,0 1 0,1 1 0,-31 21 1,-94 86-69,130-103 20,2 2 0,0 0 0,1 2 0,2 0 0,0 0 0,1 2 0,2 0 0,0 1 0,2 0 0,1 1 0,1 0 0,1 1 0,2 0 0,-8 55 0,7-14 0,4 1 0,5 72 0,22 138 0,-23-277 0,1 4 0,-1 0 0,1 0 0,1-1 0,0 1 0,3 9 0,-4-14 0,-1 0 0,1-1 0,1 1 0,-1 0 0,0-1 0,0 1 0,0-1 0,1 1 0,-1-1 0,1 0 0,-1 0 0,1 0 0,0 0 0,-1 0 0,1 0 0,0 0 0,0 0 0,-1 0 0,1-1 0,0 1 0,0-1 0,0 0 0,0 1 0,2-1 0,6 0 0,1 0 0,-1-1 0,1 0 0,-1-1 0,0 0 0,0 0 0,0-1 0,0-1 0,15-6 0,9-8 0,40-26 0,-50 29 0,22-14 0,-2-1 0,-1-3 0,77-76 0,-101 89 0,0-1 0,-2-2 0,-1 0 0,-1 0 0,-1-1 0,0-1 0,-2 0 0,-2-1 0,13-43 0,-15 34 0,-2-1 0,-2 0 0,-1 0 0,-1-1 0,-6-57 0,4 93 0,-1-6 0,1-1 0,-1 1 0,-1 0 0,1 0 0,-4-9 0,5 14 0,-1 1 0,0-1 0,0 1 0,0-1 0,0 1 0,0-1 0,0 1 0,0 0 0,0-1 0,-1 1 0,1 0 0,0 0 0,-1 0 0,1 0 0,-1 0 0,1 0 0,-1 0 0,1 1 0,-1-1 0,0 1 0,1-1 0,-1 1 0,0-1 0,0 1 0,1 0 0,-1 0 0,-2 0 0,-7 1 0,-1 1 0,1 1 0,-1 0 0,1 0 0,0 1 0,0 0 0,-15 10 0,25-14 0,-32 16 0,-1 2 0,2 1 0,1 2 0,0 1 0,2 1 0,0 2 0,2 1 0,1 1 0,1 1 0,1 1 0,1 1 0,2 1 0,-29 59 0,18-16 0,4 1 0,3 2 0,3 0 0,4 1 0,3 1 0,3 1 0,4 0 0,4 114 0,4-185 0,0-4 0,0 1 0,0-1 0,1 1 0,0-1 0,1 7 0,-1-11 0,-1 1 0,1-1 0,0 1 0,-1-1 0,1 0 0,0 0 0,0 1 0,0-1 0,0 0 0,0 0 0,0 0 0,0 0 0,0 0 0,1 0 0,-1 0 0,0-1 0,1 1 0,-1 0 0,0-1 0,1 1 0,-1-1 0,1 1 0,1-1 0,5 2 0,0-2 0,1 1 0,-1-1 0,1-1 0,-1 1 0,1-1 0,-1-1 0,0 0 0,16-5 0,9-6 0,31-16 0,-55 25 0,25-13 0,0 0 0,-2-3 0,0 0 0,44-39 0,-61 45 0,-1 0 0,0-1 0,-2 0 0,1-1 0,-2 0 0,0-1 0,-1-1 0,-1 1 0,-1-2 0,10-28 0,-1-21 0,-3-1 0,7-101 0,-5 30 0,29-121 0,-32 204 0,2 2 0,37-88 0,-36 112 0,-8 18 0,-2 0 0,8-19 0,-13 29 0,0 1 0,0-1 0,0 0 0,-1 0 0,1 0 0,-1 0 0,0 0 0,0 0 0,0 0 0,0 0 0,0 1 0,-1-1 0,1 0 0,-1 0 0,0 0 0,0 0 0,-2-3 0,3 5 0,-1 0 0,0 0 0,1 0 0,-1 0 0,0 1 0,0-1 0,0 0 0,0 0 0,1 1 0,-1-1 0,0 1 0,0-1 0,0 0 0,0 1 0,-1 0 0,1-1 0,0 1 0,0 0 0,0-1 0,0 1 0,0 0 0,0 0 0,-1 0 0,1 0 0,0 0 0,0 0 0,0 1 0,0-1 0,-2 1 0,-3 0 0,0 1 0,0 1 0,0-1 0,-6 4 0,-56 35 0,2 2 0,-60 53 0,97-73 0,2 1 0,1 0 0,-37 48 0,48-53 0,2 2 0,0-1 0,1 2 0,1 0 0,1 0 0,-10 32 0,7-4 0,2 0 0,2 1 0,3 0 0,0 69 0,18 208 0,-11-323 0,-1-3 0,0 1 0,0-1 0,0 0 0,0 1 0,1-1 0,-1 1 0,1-1 0,0 0 0,0 0 0,0 1 0,0-1 0,0 0 0,2 3 0,-1-4 0,-1 0 0,0 0 0,1 0 0,-1-1 0,1 1 0,-1 0 0,1-1 0,-1 0 0,1 1 0,-1-1 0,1 0 0,-1 1 0,1-1 0,0 0 0,-1 0 0,1-1 0,-1 1 0,1 0 0,-1 0 0,1-1 0,1 0 0,30-8 0,-1-1 0,-1-2 0,0-1 0,-1-2 0,0-1 0,-1-1 0,37-29 0,-43 27 0,-1-1 0,0-1 0,-2-1 0,-1-1 0,0-1 0,-2 0 0,-1-1 0,0-1 0,16-39 0,-4-3 0,-3-2 0,27-119 0,-26 51 0,7-143 0,-18 137 0,9 2 0,-4 39 0,-20 103 0,0-1 0,0 0 0,0 1 0,1-1 0,-1 0 0,0 1 0,0-1 0,0 0 0,0 1 0,0-1 0,0 0 0,0 1 0,0-1 0,-1 0 0,1 1 0,0-1 0,0 0 0,0 1 0,-1-1 0,1 0 0,0 1 0,-1-1 0,1 1 0,-1-1 0,1 0 0,-1 1 0,1-1 0,-1 1 0,1 0 0,-1-1 0,1 1 0,-1-1 0,1 1 0,-1 0 0,0-1 0,1 1 0,-1 0 0,0 0 0,1-1 0,-1 1 0,0 0 0,1 0 0,-1 0 0,0 0 0,1 0 0,-1 0 0,0 0 0,1 0 0,-1 0 0,0 0 0,-1 1 0,-5 1 0,0 0 0,0 0 0,1 0 0,-8 5 0,13-7 0,-33 18 0,0 2 0,-54 41 0,53-35 0,0 0 0,2 1 0,1 2 0,1 1 0,-28 34 0,38-37 0,1 1 0,1 1 0,2 1 0,1 0 0,-19 49 0,21-37 0,1 1 0,-12 71 0,21-84 0,1-1 0,1 1 0,2 0 0,6 56 0,-6-85 3,0 1 1,0 0-1,1 0 0,-1 0 0,0-1 0,1 1 0,-1 0 0,1-1 1,0 1-1,-1 0 0,1-1 0,0 1 0,0-1 0,0 1 1,0-1-1,0 0 0,1 1 0,-1-1 0,0 0 0,1 0 0,-1 0 1,1 0-1,-1 0 0,1 0 0,-1 0 0,1 0 0,-1-1 0,1 1 1,0 0-1,0-1 0,-1 0 0,1 1 0,0-1 0,0 0 1,-1 0-1,1 0 0,3 0 0,2-2-168,0 1 0,0-1 0,0 0 0,0-1 0,-1 0 0,0 0 0,1 0 0,6-5 0,7-6-6661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4:02.43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3:39.859"/>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3:40.686"/>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3:41.195"/>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3:42.422"/>
    </inkml:context>
    <inkml:brush xml:id="br0">
      <inkml:brushProperty name="width" value="0.035" units="cm"/>
      <inkml:brushProperty name="height" value="0.035" units="cm"/>
      <inkml:brushProperty name="color" value="#FFFFFF"/>
    </inkml:brush>
  </inkml:definitions>
  <inkml:trace contextRef="#ctx0" brushRef="#br0">3 0 24575,'-3'0'0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3:44.149"/>
    </inkml:context>
    <inkml:brush xml:id="br0">
      <inkml:brushProperty name="width" value="0.035" units="cm"/>
      <inkml:brushProperty name="height" value="0.035" units="cm"/>
      <inkml:brushProperty name="color" value="#FFFFFF"/>
    </inkml:brush>
  </inkml:definitions>
  <inkml:trace contextRef="#ctx0" brushRef="#br0">1 76 24575,'1'20'0,"0"0"0,1 0 0,2 0 0,0 0 0,1 0 0,1-1 0,0 0 0,2 0 0,12 23 0,-4-9 0,2-2 0,1 0 0,1-1 0,29 34 0,-48-62 0,1 0 0,0 0 0,0-1 0,0 1 0,0 0 0,0-1 0,0 1 0,0-1 0,1 0 0,-1 0 0,0 0 0,1 0 0,-1 0 0,1 0 0,-1-1 0,1 1 0,-1-1 0,1 0 0,0 0 0,-1 0 0,1 0 0,-1 0 0,1 0 0,0-1 0,-1 1 0,5-3 0,-4 2 0,0-1 0,0 1 0,0-1 0,0 0 0,-1 0 0,1 0 0,-1-1 0,0 1 0,0 0 0,1-1 0,-2 0 0,1 1 0,0-1 0,0 0 0,-1 0 0,0 0 0,1 0 0,-1 0 0,0 0 0,1-7 0,1-20 0,-1 0 0,-1-1 0,-5-37 0,1-2 0,3-128-1365,0 182-5461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4:06.78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18:34:07.33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E4B1-42A9-7300-8125-9451EAAFB1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7CB690A-35E8-33E7-2923-931AD5F5F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07A6178-00CC-EB55-166B-549713C0DCED}"/>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5" name="Footer Placeholder 4">
            <a:extLst>
              <a:ext uri="{FF2B5EF4-FFF2-40B4-BE49-F238E27FC236}">
                <a16:creationId xmlns:a16="http://schemas.microsoft.com/office/drawing/2014/main" id="{6780397B-64C0-F5F0-E432-CAD97A4814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41BF83-87C5-03C1-0D8D-58B35ACD77D7}"/>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1508260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873EB-4EE1-1376-3431-CC373746D9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E8927E-E8AC-C10B-47D9-29D6D9B2A6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588CD0-AE09-38F5-55D4-790072C9595F}"/>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5" name="Footer Placeholder 4">
            <a:extLst>
              <a:ext uri="{FF2B5EF4-FFF2-40B4-BE49-F238E27FC236}">
                <a16:creationId xmlns:a16="http://schemas.microsoft.com/office/drawing/2014/main" id="{A5820834-E19C-DF1B-416B-EE2108626E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792BCA-7594-F458-E182-BED2190F8BF0}"/>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1266452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77778-9C75-66DD-1BCD-EFCBDBD547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C11C08-A3BF-3FAE-70D8-D0D8ED46EE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699D65-A1D1-520F-B6FE-833F1A7DBA2A}"/>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5" name="Footer Placeholder 4">
            <a:extLst>
              <a:ext uri="{FF2B5EF4-FFF2-40B4-BE49-F238E27FC236}">
                <a16:creationId xmlns:a16="http://schemas.microsoft.com/office/drawing/2014/main" id="{DE2FCC5F-EF8D-635B-6853-BCA558A3A8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0F0387-97BC-C926-69A0-52E2F867F1DC}"/>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548611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1C8A8-9744-6D78-6111-691EAB1890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67C4AB-AB30-F8AC-C35B-D96132D977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AE2E8CA-3C37-EF0D-1DD0-382D5FC051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92CFE0-C0DC-4A2F-362E-24FFABFFE7CD}"/>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6" name="Footer Placeholder 5">
            <a:extLst>
              <a:ext uri="{FF2B5EF4-FFF2-40B4-BE49-F238E27FC236}">
                <a16:creationId xmlns:a16="http://schemas.microsoft.com/office/drawing/2014/main" id="{EF6A481A-9F03-41CF-541D-264868A9DA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097523-60FD-F8E5-929E-746C2C476499}"/>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4246105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EDA7E-589A-EA59-6F65-7CDC690A963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9C5362-D11D-2C71-5586-0E535E359A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9CE9D3-036C-B56F-3206-EBBBE729AB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15A563-B5E9-26F5-C094-8FBA9C2607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9D31F9-A18B-078E-FC38-66D504660F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315EE4-AD37-E1D8-EA19-71D19C790DCF}"/>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8" name="Footer Placeholder 7">
            <a:extLst>
              <a:ext uri="{FF2B5EF4-FFF2-40B4-BE49-F238E27FC236}">
                <a16:creationId xmlns:a16="http://schemas.microsoft.com/office/drawing/2014/main" id="{8386F796-0789-6D5A-95EE-E92E43AD16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6FA996B-5053-C04F-D2AC-3712990AA114}"/>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3567161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C15B4-2149-1660-9EB9-4B9FC91838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5B9216E-78A4-BD0E-E5B2-F2938BA64ED3}"/>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4" name="Footer Placeholder 3">
            <a:extLst>
              <a:ext uri="{FF2B5EF4-FFF2-40B4-BE49-F238E27FC236}">
                <a16:creationId xmlns:a16="http://schemas.microsoft.com/office/drawing/2014/main" id="{8B1F22B3-C496-CDDB-F64F-682C0D21328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C3918D2-1F81-55AD-6E4B-883BEE0402CD}"/>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1279442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463EA8-7AEA-FF19-C897-E597E063388F}"/>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3" name="Footer Placeholder 2">
            <a:extLst>
              <a:ext uri="{FF2B5EF4-FFF2-40B4-BE49-F238E27FC236}">
                <a16:creationId xmlns:a16="http://schemas.microsoft.com/office/drawing/2014/main" id="{4E3CE312-2D9A-B672-C362-CBE7D2198D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3FF590-DB4D-244B-6BBA-FE55473804EC}"/>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365703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5FC-34D8-F56F-38C5-DBAFC2C844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701CC9D-8527-E172-99F8-0018569BAB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CCF779C-2304-685B-4FB3-1922D7BBB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5EF6CC-343C-D434-BFAE-9E6A6A7FD958}"/>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6" name="Footer Placeholder 5">
            <a:extLst>
              <a:ext uri="{FF2B5EF4-FFF2-40B4-BE49-F238E27FC236}">
                <a16:creationId xmlns:a16="http://schemas.microsoft.com/office/drawing/2014/main" id="{09071F6A-C5D4-23E5-0F4E-D545E31BD5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672323-8414-684F-1816-6E0DE6CBD685}"/>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1467473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64F60-F754-A4D9-C454-7A40B5C6E1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2D37B3-F540-B139-A848-F545ABB190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8216A7-2CAC-C734-AB14-C48CE0B35F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F580DE-E3AE-6724-23E9-89E0CA25CFCF}"/>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6" name="Footer Placeholder 5">
            <a:extLst>
              <a:ext uri="{FF2B5EF4-FFF2-40B4-BE49-F238E27FC236}">
                <a16:creationId xmlns:a16="http://schemas.microsoft.com/office/drawing/2014/main" id="{0AE67AF5-72D3-DB23-130D-2135A938B8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0E541E-0B26-A294-31B7-0459F1E8590A}"/>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2148428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68C8E-0C83-FCF2-4156-3FB7382D09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76EA4E-7F20-EAA2-337B-65B994D3AE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AA8268-233B-9D7F-52A3-4C7DCAD047A7}"/>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5" name="Footer Placeholder 4">
            <a:extLst>
              <a:ext uri="{FF2B5EF4-FFF2-40B4-BE49-F238E27FC236}">
                <a16:creationId xmlns:a16="http://schemas.microsoft.com/office/drawing/2014/main" id="{140B796B-83B2-74A1-9127-0BA8C3DA0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279D43-6CD7-272A-446A-7328A84BA53E}"/>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1775003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6B8FF4-C937-9ED0-5368-29F829615B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39D937-0CF2-B7D9-BC8C-231F4FABDB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770504-0DAD-7542-57AE-42E35C6C90BC}"/>
              </a:ext>
            </a:extLst>
          </p:cNvPr>
          <p:cNvSpPr>
            <a:spLocks noGrp="1"/>
          </p:cNvSpPr>
          <p:nvPr>
            <p:ph type="dt" sz="half" idx="10"/>
          </p:nvPr>
        </p:nvSpPr>
        <p:spPr/>
        <p:txBody>
          <a:bodyPr/>
          <a:lstStyle/>
          <a:p>
            <a:fld id="{6C71CFAD-C895-4E3C-85B8-31EB355D45AD}" type="datetimeFigureOut">
              <a:rPr lang="en-IN" smtClean="0"/>
              <a:t>27-03-2025</a:t>
            </a:fld>
            <a:endParaRPr lang="en-IN"/>
          </a:p>
        </p:txBody>
      </p:sp>
      <p:sp>
        <p:nvSpPr>
          <p:cNvPr id="5" name="Footer Placeholder 4">
            <a:extLst>
              <a:ext uri="{FF2B5EF4-FFF2-40B4-BE49-F238E27FC236}">
                <a16:creationId xmlns:a16="http://schemas.microsoft.com/office/drawing/2014/main" id="{DEB2DD99-95E4-E140-840D-311188659F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28672-CB9F-7796-D195-ADDDE793358F}"/>
              </a:ext>
            </a:extLst>
          </p:cNvPr>
          <p:cNvSpPr>
            <a:spLocks noGrp="1"/>
          </p:cNvSpPr>
          <p:nvPr>
            <p:ph type="sldNum" sz="quarter" idx="12"/>
          </p:nvPr>
        </p:nvSpPr>
        <p:spPr/>
        <p:txBody>
          <a:bodyPr/>
          <a:lstStyle/>
          <a:p>
            <a:fld id="{25883DCE-33F1-4419-AD1D-6B51D1D79E72}" type="slidenum">
              <a:rPr lang="en-IN" smtClean="0"/>
              <a:t>‹#›</a:t>
            </a:fld>
            <a:endParaRPr lang="en-IN"/>
          </a:p>
        </p:txBody>
      </p:sp>
    </p:spTree>
    <p:extLst>
      <p:ext uri="{BB962C8B-B14F-4D97-AF65-F5344CB8AC3E}">
        <p14:creationId xmlns:p14="http://schemas.microsoft.com/office/powerpoint/2010/main" val="1466541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725A9D-7ED3-66A8-B54C-8C920851FE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8ECEF2-8086-2295-F31E-716BDA9F40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A45278-23D6-C45F-0731-6ACD657631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71CFAD-C895-4E3C-85B8-31EB355D45AD}" type="datetimeFigureOut">
              <a:rPr lang="en-IN" smtClean="0"/>
              <a:t>27-03-2025</a:t>
            </a:fld>
            <a:endParaRPr lang="en-IN"/>
          </a:p>
        </p:txBody>
      </p:sp>
      <p:sp>
        <p:nvSpPr>
          <p:cNvPr id="5" name="Footer Placeholder 4">
            <a:extLst>
              <a:ext uri="{FF2B5EF4-FFF2-40B4-BE49-F238E27FC236}">
                <a16:creationId xmlns:a16="http://schemas.microsoft.com/office/drawing/2014/main" id="{F6DD2E6F-897B-8322-2A51-EBB0F33719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FE298DC-DC75-72C5-F0A7-14065092B2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883DCE-33F1-4419-AD1D-6B51D1D79E72}" type="slidenum">
              <a:rPr lang="en-IN" smtClean="0"/>
              <a:t>‹#›</a:t>
            </a:fld>
            <a:endParaRPr lang="en-IN"/>
          </a:p>
        </p:txBody>
      </p:sp>
    </p:spTree>
    <p:extLst>
      <p:ext uri="{BB962C8B-B14F-4D97-AF65-F5344CB8AC3E}">
        <p14:creationId xmlns:p14="http://schemas.microsoft.com/office/powerpoint/2010/main" val="3831891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18" Type="http://schemas.openxmlformats.org/officeDocument/2006/relationships/image" Target="../media/image10.png"/><Relationship Id="rId3" Type="http://schemas.openxmlformats.org/officeDocument/2006/relationships/customXml" Target="../ink/ink1.xml"/><Relationship Id="rId21" Type="http://schemas.openxmlformats.org/officeDocument/2006/relationships/image" Target="../media/image11.png"/><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customXml" Target="../ink/ink10.xml"/><Relationship Id="rId2" Type="http://schemas.openxmlformats.org/officeDocument/2006/relationships/image" Target="../media/image5.png"/><Relationship Id="rId16" Type="http://schemas.openxmlformats.org/officeDocument/2006/relationships/customXml" Target="../ink/ink9.xml"/><Relationship Id="rId20" Type="http://schemas.openxmlformats.org/officeDocument/2006/relationships/customXml" Target="../ink/ink1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8.xml"/><Relationship Id="rId10" Type="http://schemas.openxmlformats.org/officeDocument/2006/relationships/image" Target="../media/image8.png"/><Relationship Id="rId19" Type="http://schemas.openxmlformats.org/officeDocument/2006/relationships/customXml" Target="../ink/ink11.xml"/><Relationship Id="rId4" Type="http://schemas.openxmlformats.org/officeDocument/2006/relationships/image" Target="../media/image50.png"/><Relationship Id="rId9" Type="http://schemas.openxmlformats.org/officeDocument/2006/relationships/customXml" Target="../ink/ink4.xml"/><Relationship Id="rId14" Type="http://schemas.openxmlformats.org/officeDocument/2006/relationships/customXml" Target="../ink/ink7.xml"/><Relationship Id="rId22"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77B0C7-06CC-CC1C-6DD1-D352F682DD47}"/>
              </a:ext>
            </a:extLst>
          </p:cNvPr>
          <p:cNvSpPr txBox="1"/>
          <p:nvPr/>
        </p:nvSpPr>
        <p:spPr>
          <a:xfrm>
            <a:off x="1265035" y="598110"/>
            <a:ext cx="10237155" cy="954107"/>
          </a:xfrm>
          <a:prstGeom prst="rect">
            <a:avLst/>
          </a:prstGeom>
          <a:noFill/>
        </p:spPr>
        <p:txBody>
          <a:bodyPr wrap="square">
            <a:spAutoFit/>
          </a:bodyPr>
          <a:lstStyle/>
          <a:p>
            <a:r>
              <a:rPr lang="en-US" sz="2800" b="1" dirty="0"/>
              <a:t>Locating the Source of Oscillation With Two-Tier Dynamic Mode Decomposition Integrating Early-Stage Energy</a:t>
            </a:r>
            <a:endParaRPr lang="en-IN" sz="2800" b="1" dirty="0"/>
          </a:p>
        </p:txBody>
      </p:sp>
      <p:pic>
        <p:nvPicPr>
          <p:cNvPr id="7" name="Picture 6">
            <a:extLst>
              <a:ext uri="{FF2B5EF4-FFF2-40B4-BE49-F238E27FC236}">
                <a16:creationId xmlns:a16="http://schemas.microsoft.com/office/drawing/2014/main" id="{BE883916-0988-5A41-043A-83E0EC8701BE}"/>
              </a:ext>
            </a:extLst>
          </p:cNvPr>
          <p:cNvPicPr>
            <a:picLocks noChangeAspect="1"/>
          </p:cNvPicPr>
          <p:nvPr/>
        </p:nvPicPr>
        <p:blipFill>
          <a:blip r:embed="rId2"/>
          <a:stretch>
            <a:fillRect/>
          </a:stretch>
        </p:blipFill>
        <p:spPr>
          <a:xfrm>
            <a:off x="4126258" y="1654018"/>
            <a:ext cx="3939483" cy="2987328"/>
          </a:xfrm>
          <a:prstGeom prst="rect">
            <a:avLst/>
          </a:prstGeom>
        </p:spPr>
      </p:pic>
      <p:sp>
        <p:nvSpPr>
          <p:cNvPr id="3" name="TextBox 2">
            <a:extLst>
              <a:ext uri="{FF2B5EF4-FFF2-40B4-BE49-F238E27FC236}">
                <a16:creationId xmlns:a16="http://schemas.microsoft.com/office/drawing/2014/main" id="{C76F0A17-1092-C0AB-2C25-647FD0C92D4F}"/>
              </a:ext>
            </a:extLst>
          </p:cNvPr>
          <p:cNvSpPr txBox="1"/>
          <p:nvPr/>
        </p:nvSpPr>
        <p:spPr>
          <a:xfrm>
            <a:off x="973667" y="5274733"/>
            <a:ext cx="10701866" cy="400110"/>
          </a:xfrm>
          <a:prstGeom prst="rect">
            <a:avLst/>
          </a:prstGeom>
          <a:noFill/>
        </p:spPr>
        <p:txBody>
          <a:bodyPr wrap="square" rtlCol="0">
            <a:spAutoFit/>
          </a:bodyPr>
          <a:lstStyle/>
          <a:p>
            <a:r>
              <a:rPr lang="en-IN" sz="2000" b="1" dirty="0"/>
              <a:t>Presented by –Pratik Bheda(2022EEB1205),Nishant(2022EEB1194),Rohit Agarwal(2022EEB1209)</a:t>
            </a:r>
          </a:p>
        </p:txBody>
      </p:sp>
    </p:spTree>
    <p:extLst>
      <p:ext uri="{BB962C8B-B14F-4D97-AF65-F5344CB8AC3E}">
        <p14:creationId xmlns:p14="http://schemas.microsoft.com/office/powerpoint/2010/main" val="2672960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FF65D-F8B6-535E-5267-223342338ECC}"/>
              </a:ext>
            </a:extLst>
          </p:cNvPr>
          <p:cNvSpPr>
            <a:spLocks noGrp="1"/>
          </p:cNvSpPr>
          <p:nvPr>
            <p:ph type="ctrTitle"/>
          </p:nvPr>
        </p:nvSpPr>
        <p:spPr>
          <a:xfrm>
            <a:off x="1316182" y="1198563"/>
            <a:ext cx="9144000" cy="1125823"/>
          </a:xfrm>
        </p:spPr>
        <p:txBody>
          <a:bodyPr/>
          <a:lstStyle/>
          <a:p>
            <a:r>
              <a:rPr lang="en-IN" b="1" dirty="0"/>
              <a:t>Objective of our paper</a:t>
            </a:r>
          </a:p>
        </p:txBody>
      </p:sp>
      <p:sp>
        <p:nvSpPr>
          <p:cNvPr id="3" name="Subtitle 2">
            <a:extLst>
              <a:ext uri="{FF2B5EF4-FFF2-40B4-BE49-F238E27FC236}">
                <a16:creationId xmlns:a16="http://schemas.microsoft.com/office/drawing/2014/main" id="{2B912E01-9C43-63EB-E257-2A6BFA46277E}"/>
              </a:ext>
            </a:extLst>
          </p:cNvPr>
          <p:cNvSpPr>
            <a:spLocks noGrp="1"/>
          </p:cNvSpPr>
          <p:nvPr>
            <p:ph type="subTitle" idx="1"/>
          </p:nvPr>
        </p:nvSpPr>
        <p:spPr>
          <a:xfrm>
            <a:off x="1524000" y="3712041"/>
            <a:ext cx="9144000" cy="1018088"/>
          </a:xfrm>
        </p:spPr>
        <p:txBody>
          <a:bodyPr>
            <a:normAutofit lnSpcReduction="10000"/>
          </a:bodyPr>
          <a:lstStyle/>
          <a:p>
            <a:r>
              <a:rPr lang="en-US" sz="3600" dirty="0"/>
              <a:t>To Locate the Source of Oscillation With Two-Tier Dynamic Mode Decomposition</a:t>
            </a:r>
            <a:endParaRPr lang="en-IN" sz="3600" dirty="0"/>
          </a:p>
        </p:txBody>
      </p:sp>
    </p:spTree>
    <p:extLst>
      <p:ext uri="{BB962C8B-B14F-4D97-AF65-F5344CB8AC3E}">
        <p14:creationId xmlns:p14="http://schemas.microsoft.com/office/powerpoint/2010/main" val="82795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A2200-B6DD-2795-D078-8FE895F66613}"/>
              </a:ext>
            </a:extLst>
          </p:cNvPr>
          <p:cNvSpPr>
            <a:spLocks noGrp="1"/>
          </p:cNvSpPr>
          <p:nvPr>
            <p:ph type="title"/>
          </p:nvPr>
        </p:nvSpPr>
        <p:spPr>
          <a:xfrm>
            <a:off x="838200" y="365125"/>
            <a:ext cx="10515600" cy="1387475"/>
          </a:xfrm>
        </p:spPr>
        <p:txBody>
          <a:bodyPr/>
          <a:lstStyle/>
          <a:p>
            <a:r>
              <a:rPr lang="en-IN" sz="4000" b="1" i="0" u="none" strike="noStrike" dirty="0">
                <a:solidFill>
                  <a:srgbClr val="000000"/>
                </a:solidFill>
                <a:effectLst/>
                <a:latin typeface="Arial" panose="020B0604020202020204" pitchFamily="34" charset="0"/>
              </a:rPr>
              <a:t>Dynamic Mode Decomposition (DMD)</a:t>
            </a:r>
            <a:br>
              <a:rPr lang="en-IN" b="1" dirty="0">
                <a:effectLst/>
              </a:rPr>
            </a:br>
            <a:endParaRPr lang="en-IN" dirty="0"/>
          </a:p>
        </p:txBody>
      </p:sp>
      <p:sp>
        <p:nvSpPr>
          <p:cNvPr id="3" name="Content Placeholder 2">
            <a:extLst>
              <a:ext uri="{FF2B5EF4-FFF2-40B4-BE49-F238E27FC236}">
                <a16:creationId xmlns:a16="http://schemas.microsoft.com/office/drawing/2014/main" id="{CCCEC952-1392-69D9-8B69-3383528B5D50}"/>
              </a:ext>
            </a:extLst>
          </p:cNvPr>
          <p:cNvSpPr>
            <a:spLocks noGrp="1"/>
          </p:cNvSpPr>
          <p:nvPr>
            <p:ph idx="1"/>
          </p:nvPr>
        </p:nvSpPr>
        <p:spPr>
          <a:xfrm>
            <a:off x="838200" y="1607127"/>
            <a:ext cx="10515600" cy="4569835"/>
          </a:xfrm>
        </p:spPr>
        <p:txBody>
          <a:bodyPr>
            <a:normAutofit fontScale="92500" lnSpcReduction="10000"/>
          </a:bodyPr>
          <a:lstStyle/>
          <a:p>
            <a:r>
              <a:rPr lang="en-US" sz="2400" b="0" i="0" u="none" strike="noStrike" dirty="0">
                <a:solidFill>
                  <a:srgbClr val="000000"/>
                </a:solidFill>
                <a:effectLst/>
                <a:latin typeface="Arial" panose="020B0604020202020204" pitchFamily="34" charset="0"/>
              </a:rPr>
              <a:t>Dynamic Mode Decomposition (DMD) is a powerful data-driven technique used for analyzing complex dynamical systems. </a:t>
            </a:r>
          </a:p>
          <a:p>
            <a:pPr marL="0" indent="0">
              <a:buNone/>
            </a:pPr>
            <a:endParaRPr lang="en-US" sz="2400" b="0" i="0" u="none" strike="noStrike" dirty="0">
              <a:solidFill>
                <a:srgbClr val="000000"/>
              </a:solidFill>
              <a:effectLst/>
              <a:latin typeface="Arial" panose="020B0604020202020204" pitchFamily="34" charset="0"/>
            </a:endParaRPr>
          </a:p>
          <a:p>
            <a:r>
              <a:rPr lang="en-US" sz="2400" b="0" i="0" u="none" strike="noStrike" dirty="0">
                <a:solidFill>
                  <a:srgbClr val="000000"/>
                </a:solidFill>
                <a:effectLst/>
                <a:latin typeface="Arial" panose="020B0604020202020204" pitchFamily="34" charset="0"/>
              </a:rPr>
              <a:t>It helps extract spatio-temporal coherent structures (modes) from high-dimensional time-series data, making it a popular tool in fluid dynamics, control systems, power systems, and many other engineering applications.</a:t>
            </a:r>
          </a:p>
          <a:p>
            <a:endParaRPr lang="en-US" sz="2400" b="0" i="0" u="none" strike="noStrike" dirty="0">
              <a:solidFill>
                <a:srgbClr val="000000"/>
              </a:solidFill>
              <a:effectLst/>
              <a:latin typeface="Arial" panose="020B0604020202020204" pitchFamily="34" charset="0"/>
            </a:endParaRPr>
          </a:p>
          <a:p>
            <a:r>
              <a:rPr lang="en-US" sz="2400" b="0" i="0" u="none" strike="noStrike" dirty="0">
                <a:solidFill>
                  <a:srgbClr val="000000"/>
                </a:solidFill>
                <a:effectLst/>
                <a:latin typeface="Arial" panose="020B0604020202020204" pitchFamily="34" charset="0"/>
              </a:rPr>
              <a:t>Given sequential snapshots of data collected over time, DMD decomposes this dataset into a set of modes, each associated with a specific growth/decay rate and oscillation frequency.</a:t>
            </a:r>
          </a:p>
          <a:p>
            <a:endParaRPr lang="en-US" sz="2400" b="0" i="0" u="none" strike="noStrike" dirty="0">
              <a:solidFill>
                <a:srgbClr val="000000"/>
              </a:solidFill>
              <a:effectLst/>
              <a:latin typeface="Arial" panose="020B0604020202020204" pitchFamily="34" charset="0"/>
            </a:endParaRPr>
          </a:p>
          <a:p>
            <a:r>
              <a:rPr lang="en-US" sz="2400" b="0" i="0" u="none" strike="noStrike" dirty="0">
                <a:solidFill>
                  <a:srgbClr val="000000"/>
                </a:solidFill>
                <a:effectLst/>
                <a:latin typeface="Arial" panose="020B0604020202020204" pitchFamily="34" charset="0"/>
              </a:rPr>
              <a:t>This allows us to predict future system behavior, identify dominant patterns, and locate the source of instabilities or oscillations.</a:t>
            </a:r>
            <a:endParaRPr lang="en-IN" sz="2400" dirty="0"/>
          </a:p>
        </p:txBody>
      </p:sp>
    </p:spTree>
    <p:extLst>
      <p:ext uri="{BB962C8B-B14F-4D97-AF65-F5344CB8AC3E}">
        <p14:creationId xmlns:p14="http://schemas.microsoft.com/office/powerpoint/2010/main" val="2260160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830079E-CAA9-60B9-BE51-C5215EE0DB79}"/>
              </a:ext>
            </a:extLst>
          </p:cNvPr>
          <p:cNvPicPr>
            <a:picLocks noChangeAspect="1"/>
          </p:cNvPicPr>
          <p:nvPr/>
        </p:nvPicPr>
        <p:blipFill>
          <a:blip r:embed="rId2"/>
          <a:stretch>
            <a:fillRect/>
          </a:stretch>
        </p:blipFill>
        <p:spPr>
          <a:xfrm>
            <a:off x="592460" y="356119"/>
            <a:ext cx="10871408" cy="6145761"/>
          </a:xfrm>
          <a:prstGeom prst="rect">
            <a:avLst/>
          </a:prstGeom>
        </p:spPr>
      </p:pic>
    </p:spTree>
    <p:extLst>
      <p:ext uri="{BB962C8B-B14F-4D97-AF65-F5344CB8AC3E}">
        <p14:creationId xmlns:p14="http://schemas.microsoft.com/office/powerpoint/2010/main" val="3163242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E8ED-61AC-9B1E-D396-FB3FE21EA9F2}"/>
              </a:ext>
            </a:extLst>
          </p:cNvPr>
          <p:cNvSpPr>
            <a:spLocks noGrp="1"/>
          </p:cNvSpPr>
          <p:nvPr>
            <p:ph type="title"/>
          </p:nvPr>
        </p:nvSpPr>
        <p:spPr>
          <a:xfrm>
            <a:off x="422564" y="365125"/>
            <a:ext cx="11423071" cy="1886239"/>
          </a:xfrm>
        </p:spPr>
        <p:txBody>
          <a:bodyPr>
            <a:normAutofit/>
          </a:bodyPr>
          <a:lstStyle/>
          <a:p>
            <a:r>
              <a:rPr lang="en-US" sz="3600" b="1" i="0" u="none" strike="noStrike" dirty="0">
                <a:solidFill>
                  <a:srgbClr val="000000"/>
                </a:solidFill>
                <a:effectLst/>
                <a:latin typeface="Arial" panose="020B0604020202020204" pitchFamily="34" charset="0"/>
              </a:rPr>
              <a:t>DMD through Singular Value Decomposition (SVD)</a:t>
            </a:r>
            <a:br>
              <a:rPr lang="en-US" sz="6600" b="1" dirty="0">
                <a:effectLst/>
              </a:rPr>
            </a:br>
            <a:endParaRPr lang="en-IN" sz="6600" dirty="0"/>
          </a:p>
        </p:txBody>
      </p:sp>
      <p:pic>
        <p:nvPicPr>
          <p:cNvPr id="5" name="Picture 4">
            <a:extLst>
              <a:ext uri="{FF2B5EF4-FFF2-40B4-BE49-F238E27FC236}">
                <a16:creationId xmlns:a16="http://schemas.microsoft.com/office/drawing/2014/main" id="{6C337DCE-DF2F-6EF3-EAF5-63DDB42FB11B}"/>
              </a:ext>
            </a:extLst>
          </p:cNvPr>
          <p:cNvPicPr>
            <a:picLocks noChangeAspect="1"/>
          </p:cNvPicPr>
          <p:nvPr/>
        </p:nvPicPr>
        <p:blipFill>
          <a:blip r:embed="rId2"/>
          <a:stretch>
            <a:fillRect/>
          </a:stretch>
        </p:blipFill>
        <p:spPr>
          <a:xfrm>
            <a:off x="484909" y="1834267"/>
            <a:ext cx="11360726" cy="1068260"/>
          </a:xfrm>
          <a:prstGeom prst="rect">
            <a:avLst/>
          </a:prstGeom>
        </p:spPr>
      </p:pic>
      <p:pic>
        <p:nvPicPr>
          <p:cNvPr id="7" name="Picture 6">
            <a:extLst>
              <a:ext uri="{FF2B5EF4-FFF2-40B4-BE49-F238E27FC236}">
                <a16:creationId xmlns:a16="http://schemas.microsoft.com/office/drawing/2014/main" id="{3F37CE2C-6644-CD0C-2F0A-3437CD490EB6}"/>
              </a:ext>
            </a:extLst>
          </p:cNvPr>
          <p:cNvPicPr>
            <a:picLocks noChangeAspect="1"/>
          </p:cNvPicPr>
          <p:nvPr/>
        </p:nvPicPr>
        <p:blipFill>
          <a:blip r:embed="rId3"/>
          <a:stretch>
            <a:fillRect/>
          </a:stretch>
        </p:blipFill>
        <p:spPr>
          <a:xfrm>
            <a:off x="705912" y="3429000"/>
            <a:ext cx="5805726" cy="21125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DEF6DC39-D98A-C49F-EEB3-E24BDA3205BF}"/>
              </a:ext>
            </a:extLst>
          </p:cNvPr>
          <p:cNvSpPr txBox="1"/>
          <p:nvPr/>
        </p:nvSpPr>
        <p:spPr>
          <a:xfrm>
            <a:off x="7148944" y="5170869"/>
            <a:ext cx="4578928" cy="1477328"/>
          </a:xfrm>
          <a:prstGeom prst="rect">
            <a:avLst/>
          </a:prstGeom>
          <a:noFill/>
        </p:spPr>
        <p:txBody>
          <a:bodyPr wrap="square">
            <a:spAutoFit/>
          </a:bodyPr>
          <a:lstStyle/>
          <a:p>
            <a:pPr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U and V are unitary matrices containing the left and right singular vectors,</a:t>
            </a:r>
          </a:p>
          <a:p>
            <a:pPr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Σ is a diagonal matrix with singular values,* denotes the conjugate transpose.</a:t>
            </a:r>
            <a:br>
              <a:rPr lang="en-US" sz="1800" b="0" i="0" u="none" strike="noStrike" dirty="0">
                <a:solidFill>
                  <a:srgbClr val="000000"/>
                </a:solidFill>
                <a:effectLst/>
                <a:latin typeface="Arial" panose="020B0604020202020204" pitchFamily="34" charset="0"/>
              </a:rPr>
            </a:br>
            <a:endParaRPr lang="en-IN" dirty="0"/>
          </a:p>
        </p:txBody>
      </p:sp>
    </p:spTree>
    <p:extLst>
      <p:ext uri="{BB962C8B-B14F-4D97-AF65-F5344CB8AC3E}">
        <p14:creationId xmlns:p14="http://schemas.microsoft.com/office/powerpoint/2010/main" val="1717574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BE65-9E8C-05BF-7978-976F577B75FD}"/>
              </a:ext>
            </a:extLst>
          </p:cNvPr>
          <p:cNvSpPr>
            <a:spLocks noGrp="1"/>
          </p:cNvSpPr>
          <p:nvPr>
            <p:ph type="title"/>
          </p:nvPr>
        </p:nvSpPr>
        <p:spPr>
          <a:xfrm>
            <a:off x="768927" y="753207"/>
            <a:ext cx="10515600" cy="791730"/>
          </a:xfrm>
        </p:spPr>
        <p:txBody>
          <a:bodyPr/>
          <a:lstStyle/>
          <a:p>
            <a:r>
              <a:rPr lang="en-US" sz="1800" b="1" i="0" u="none" strike="noStrike" dirty="0">
                <a:solidFill>
                  <a:srgbClr val="000000"/>
                </a:solidFill>
                <a:effectLst/>
                <a:latin typeface="Arial" panose="020B0604020202020204" pitchFamily="34" charset="0"/>
              </a:rPr>
              <a:t>Truncated SVD:</a:t>
            </a:r>
            <a:r>
              <a:rPr lang="en-US" sz="1800" b="0" i="0" u="none" strike="noStrike" dirty="0">
                <a:solidFill>
                  <a:srgbClr val="000000"/>
                </a:solidFill>
                <a:effectLst/>
                <a:latin typeface="Arial" panose="020B0604020202020204" pitchFamily="34" charset="0"/>
              </a:rPr>
              <a:t> Further reduces dimensionality by keeping only the most significant r modes.</a:t>
            </a:r>
            <a:endParaRPr lang="en-IN" dirty="0"/>
          </a:p>
        </p:txBody>
      </p:sp>
      <p:pic>
        <p:nvPicPr>
          <p:cNvPr id="5" name="Picture 4">
            <a:extLst>
              <a:ext uri="{FF2B5EF4-FFF2-40B4-BE49-F238E27FC236}">
                <a16:creationId xmlns:a16="http://schemas.microsoft.com/office/drawing/2014/main" id="{4043E702-8240-4D4A-8400-9A74464385A3}"/>
              </a:ext>
            </a:extLst>
          </p:cNvPr>
          <p:cNvPicPr>
            <a:picLocks noChangeAspect="1"/>
          </p:cNvPicPr>
          <p:nvPr/>
        </p:nvPicPr>
        <p:blipFill>
          <a:blip r:embed="rId2"/>
          <a:stretch>
            <a:fillRect/>
          </a:stretch>
        </p:blipFill>
        <p:spPr>
          <a:xfrm>
            <a:off x="882309" y="2951018"/>
            <a:ext cx="9407236" cy="1580557"/>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 name="Ink 5">
                <a:extLst>
                  <a:ext uri="{FF2B5EF4-FFF2-40B4-BE49-F238E27FC236}">
                    <a16:creationId xmlns:a16="http://schemas.microsoft.com/office/drawing/2014/main" id="{01CB7577-F8B5-CA58-88C5-EFF8D9FDD571}"/>
                  </a:ext>
                </a:extLst>
              </p14:cNvPr>
              <p14:cNvContentPartPr/>
              <p14:nvPr/>
            </p14:nvContentPartPr>
            <p14:xfrm>
              <a:off x="9606873" y="1523673"/>
              <a:ext cx="204120" cy="499320"/>
            </p14:xfrm>
          </p:contentPart>
        </mc:Choice>
        <mc:Fallback xmlns="">
          <p:pic>
            <p:nvPicPr>
              <p:cNvPr id="6" name="Ink 5">
                <a:extLst>
                  <a:ext uri="{FF2B5EF4-FFF2-40B4-BE49-F238E27FC236}">
                    <a16:creationId xmlns:a16="http://schemas.microsoft.com/office/drawing/2014/main" id="{01CB7577-F8B5-CA58-88C5-EFF8D9FDD571}"/>
                  </a:ext>
                </a:extLst>
              </p:cNvPr>
              <p:cNvPicPr/>
              <p:nvPr/>
            </p:nvPicPr>
            <p:blipFill>
              <a:blip r:embed="rId4"/>
              <a:stretch>
                <a:fillRect/>
              </a:stretch>
            </p:blipFill>
            <p:spPr>
              <a:xfrm>
                <a:off x="9598233" y="1470033"/>
                <a:ext cx="221760" cy="606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1184F41D-858A-17AE-0963-7C3C1E7D5CC8}"/>
                  </a:ext>
                </a:extLst>
              </p14:cNvPr>
              <p14:cNvContentPartPr/>
              <p14:nvPr/>
            </p14:nvContentPartPr>
            <p14:xfrm>
              <a:off x="10238673" y="1676313"/>
              <a:ext cx="360" cy="360"/>
            </p14:xfrm>
          </p:contentPart>
        </mc:Choice>
        <mc:Fallback xmlns="">
          <p:pic>
            <p:nvPicPr>
              <p:cNvPr id="7" name="Ink 6">
                <a:extLst>
                  <a:ext uri="{FF2B5EF4-FFF2-40B4-BE49-F238E27FC236}">
                    <a16:creationId xmlns:a16="http://schemas.microsoft.com/office/drawing/2014/main" id="{1184F41D-858A-17AE-0963-7C3C1E7D5CC8}"/>
                  </a:ext>
                </a:extLst>
              </p:cNvPr>
              <p:cNvPicPr/>
              <p:nvPr/>
            </p:nvPicPr>
            <p:blipFill>
              <a:blip r:embed="rId6"/>
              <a:stretch>
                <a:fillRect/>
              </a:stretch>
            </p:blipFill>
            <p:spPr>
              <a:xfrm>
                <a:off x="10232553" y="167019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2F5C46AC-1226-2E8D-8C01-81A58B84AEC5}"/>
                  </a:ext>
                </a:extLst>
              </p14:cNvPr>
              <p14:cNvContentPartPr/>
              <p14:nvPr/>
            </p14:nvContentPartPr>
            <p14:xfrm>
              <a:off x="10189713" y="670113"/>
              <a:ext cx="587160" cy="1110600"/>
            </p14:xfrm>
          </p:contentPart>
        </mc:Choice>
        <mc:Fallback xmlns="">
          <p:pic>
            <p:nvPicPr>
              <p:cNvPr id="8" name="Ink 7">
                <a:extLst>
                  <a:ext uri="{FF2B5EF4-FFF2-40B4-BE49-F238E27FC236}">
                    <a16:creationId xmlns:a16="http://schemas.microsoft.com/office/drawing/2014/main" id="{2F5C46AC-1226-2E8D-8C01-81A58B84AEC5}"/>
                  </a:ext>
                </a:extLst>
              </p:cNvPr>
              <p:cNvPicPr/>
              <p:nvPr/>
            </p:nvPicPr>
            <p:blipFill>
              <a:blip r:embed="rId8"/>
              <a:stretch>
                <a:fillRect/>
              </a:stretch>
            </p:blipFill>
            <p:spPr>
              <a:xfrm>
                <a:off x="10183593" y="663993"/>
                <a:ext cx="599400" cy="1122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360AD119-F071-12CE-FE20-96FD8C114F7F}"/>
                  </a:ext>
                </a:extLst>
              </p14:cNvPr>
              <p14:cNvContentPartPr/>
              <p14:nvPr/>
            </p14:nvContentPartPr>
            <p14:xfrm>
              <a:off x="10209873" y="1130913"/>
              <a:ext cx="514800" cy="686880"/>
            </p14:xfrm>
          </p:contentPart>
        </mc:Choice>
        <mc:Fallback xmlns="">
          <p:pic>
            <p:nvPicPr>
              <p:cNvPr id="16" name="Ink 15">
                <a:extLst>
                  <a:ext uri="{FF2B5EF4-FFF2-40B4-BE49-F238E27FC236}">
                    <a16:creationId xmlns:a16="http://schemas.microsoft.com/office/drawing/2014/main" id="{360AD119-F071-12CE-FE20-96FD8C114F7F}"/>
                  </a:ext>
                </a:extLst>
              </p:cNvPr>
              <p:cNvPicPr/>
              <p:nvPr/>
            </p:nvPicPr>
            <p:blipFill>
              <a:blip r:embed="rId10"/>
              <a:stretch>
                <a:fillRect/>
              </a:stretch>
            </p:blipFill>
            <p:spPr>
              <a:xfrm>
                <a:off x="10203753" y="1124793"/>
                <a:ext cx="527040" cy="699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6CFD94CD-4CB6-D8D4-749B-20FED7D7E78D}"/>
                  </a:ext>
                </a:extLst>
              </p14:cNvPr>
              <p14:cNvContentPartPr/>
              <p14:nvPr/>
            </p14:nvContentPartPr>
            <p14:xfrm>
              <a:off x="8998113" y="1509993"/>
              <a:ext cx="360" cy="360"/>
            </p14:xfrm>
          </p:contentPart>
        </mc:Choice>
        <mc:Fallback xmlns="">
          <p:pic>
            <p:nvPicPr>
              <p:cNvPr id="18" name="Ink 17">
                <a:extLst>
                  <a:ext uri="{FF2B5EF4-FFF2-40B4-BE49-F238E27FC236}">
                    <a16:creationId xmlns:a16="http://schemas.microsoft.com/office/drawing/2014/main" id="{6CFD94CD-4CB6-D8D4-749B-20FED7D7E78D}"/>
                  </a:ext>
                </a:extLst>
              </p:cNvPr>
              <p:cNvPicPr/>
              <p:nvPr/>
            </p:nvPicPr>
            <p:blipFill>
              <a:blip r:embed="rId12"/>
              <a:stretch>
                <a:fillRect/>
              </a:stretch>
            </p:blipFill>
            <p:spPr>
              <a:xfrm>
                <a:off x="8935473" y="1447353"/>
                <a:ext cx="126000" cy="126000"/>
              </a:xfrm>
              <a:prstGeom prst="rect">
                <a:avLst/>
              </a:prstGeom>
            </p:spPr>
          </p:pic>
        </mc:Fallback>
      </mc:AlternateContent>
      <p:grpSp>
        <p:nvGrpSpPr>
          <p:cNvPr id="21" name="Group 20">
            <a:extLst>
              <a:ext uri="{FF2B5EF4-FFF2-40B4-BE49-F238E27FC236}">
                <a16:creationId xmlns:a16="http://schemas.microsoft.com/office/drawing/2014/main" id="{846B0C6D-EBA6-B583-F4BC-9E97CB1D5FC7}"/>
              </a:ext>
            </a:extLst>
          </p:cNvPr>
          <p:cNvGrpSpPr/>
          <p:nvPr/>
        </p:nvGrpSpPr>
        <p:grpSpPr>
          <a:xfrm>
            <a:off x="10203393" y="1614393"/>
            <a:ext cx="106920" cy="182520"/>
            <a:chOff x="10203393" y="1614393"/>
            <a:chExt cx="106920" cy="182520"/>
          </a:xfrm>
        </p:grpSpPr>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BFD5A6D7-826C-A343-817E-5D08593DAD90}"/>
                    </a:ext>
                  </a:extLst>
                </p14:cNvPr>
                <p14:cNvContentPartPr/>
                <p14:nvPr/>
              </p14:nvContentPartPr>
              <p14:xfrm>
                <a:off x="10231473" y="1676313"/>
                <a:ext cx="360" cy="360"/>
              </p14:xfrm>
            </p:contentPart>
          </mc:Choice>
          <mc:Fallback xmlns="">
            <p:pic>
              <p:nvPicPr>
                <p:cNvPr id="9" name="Ink 8">
                  <a:extLst>
                    <a:ext uri="{FF2B5EF4-FFF2-40B4-BE49-F238E27FC236}">
                      <a16:creationId xmlns:a16="http://schemas.microsoft.com/office/drawing/2014/main" id="{BFD5A6D7-826C-A343-817E-5D08593DAD90}"/>
                    </a:ext>
                  </a:extLst>
                </p:cNvPr>
                <p:cNvPicPr/>
                <p:nvPr/>
              </p:nvPicPr>
              <p:blipFill>
                <a:blip r:embed="rId6"/>
                <a:stretch>
                  <a:fillRect/>
                </a:stretch>
              </p:blipFill>
              <p:spPr>
                <a:xfrm>
                  <a:off x="10225353" y="167019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39246B0A-4260-6401-CCA6-7BFE96CD388F}"/>
                    </a:ext>
                  </a:extLst>
                </p14:cNvPr>
                <p14:cNvContentPartPr/>
                <p14:nvPr/>
              </p14:nvContentPartPr>
              <p14:xfrm>
                <a:off x="10266033" y="1655433"/>
                <a:ext cx="360" cy="360"/>
              </p14:xfrm>
            </p:contentPart>
          </mc:Choice>
          <mc:Fallback xmlns="">
            <p:pic>
              <p:nvPicPr>
                <p:cNvPr id="10" name="Ink 9">
                  <a:extLst>
                    <a:ext uri="{FF2B5EF4-FFF2-40B4-BE49-F238E27FC236}">
                      <a16:creationId xmlns:a16="http://schemas.microsoft.com/office/drawing/2014/main" id="{39246B0A-4260-6401-CCA6-7BFE96CD388F}"/>
                    </a:ext>
                  </a:extLst>
                </p:cNvPr>
                <p:cNvPicPr/>
                <p:nvPr/>
              </p:nvPicPr>
              <p:blipFill>
                <a:blip r:embed="rId6"/>
                <a:stretch>
                  <a:fillRect/>
                </a:stretch>
              </p:blipFill>
              <p:spPr>
                <a:xfrm>
                  <a:off x="10259913" y="164931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A8448102-3988-2BCF-EEBE-9B15A470A14B}"/>
                    </a:ext>
                  </a:extLst>
                </p14:cNvPr>
                <p14:cNvContentPartPr/>
                <p14:nvPr/>
              </p14:nvContentPartPr>
              <p14:xfrm>
                <a:off x="10238673" y="1655433"/>
                <a:ext cx="360" cy="360"/>
              </p14:xfrm>
            </p:contentPart>
          </mc:Choice>
          <mc:Fallback xmlns="">
            <p:pic>
              <p:nvPicPr>
                <p:cNvPr id="11" name="Ink 10">
                  <a:extLst>
                    <a:ext uri="{FF2B5EF4-FFF2-40B4-BE49-F238E27FC236}">
                      <a16:creationId xmlns:a16="http://schemas.microsoft.com/office/drawing/2014/main" id="{A8448102-3988-2BCF-EEBE-9B15A470A14B}"/>
                    </a:ext>
                  </a:extLst>
                </p:cNvPr>
                <p:cNvPicPr/>
                <p:nvPr/>
              </p:nvPicPr>
              <p:blipFill>
                <a:blip r:embed="rId6"/>
                <a:stretch>
                  <a:fillRect/>
                </a:stretch>
              </p:blipFill>
              <p:spPr>
                <a:xfrm>
                  <a:off x="10232553" y="164931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ECD02F46-469E-9073-37B0-DB92EA779438}"/>
                    </a:ext>
                  </a:extLst>
                </p14:cNvPr>
                <p14:cNvContentPartPr/>
                <p14:nvPr/>
              </p14:nvContentPartPr>
              <p14:xfrm>
                <a:off x="10230393" y="1641753"/>
                <a:ext cx="1440" cy="360"/>
              </p14:xfrm>
            </p:contentPart>
          </mc:Choice>
          <mc:Fallback xmlns="">
            <p:pic>
              <p:nvPicPr>
                <p:cNvPr id="13" name="Ink 12">
                  <a:extLst>
                    <a:ext uri="{FF2B5EF4-FFF2-40B4-BE49-F238E27FC236}">
                      <a16:creationId xmlns:a16="http://schemas.microsoft.com/office/drawing/2014/main" id="{ECD02F46-469E-9073-37B0-DB92EA779438}"/>
                    </a:ext>
                  </a:extLst>
                </p:cNvPr>
                <p:cNvPicPr/>
                <p:nvPr/>
              </p:nvPicPr>
              <p:blipFill>
                <a:blip r:embed="rId6"/>
                <a:stretch>
                  <a:fillRect/>
                </a:stretch>
              </p:blipFill>
              <p:spPr>
                <a:xfrm>
                  <a:off x="10224273" y="1635633"/>
                  <a:ext cx="136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A685EA20-5E8D-0035-21CF-D0A9EDF30139}"/>
                    </a:ext>
                  </a:extLst>
                </p14:cNvPr>
                <p14:cNvContentPartPr/>
                <p14:nvPr/>
              </p14:nvContentPartPr>
              <p14:xfrm>
                <a:off x="10203393" y="1614393"/>
                <a:ext cx="106920" cy="182520"/>
              </p14:xfrm>
            </p:contentPart>
          </mc:Choice>
          <mc:Fallback xmlns="">
            <p:pic>
              <p:nvPicPr>
                <p:cNvPr id="14" name="Ink 13">
                  <a:extLst>
                    <a:ext uri="{FF2B5EF4-FFF2-40B4-BE49-F238E27FC236}">
                      <a16:creationId xmlns:a16="http://schemas.microsoft.com/office/drawing/2014/main" id="{A685EA20-5E8D-0035-21CF-D0A9EDF30139}"/>
                    </a:ext>
                  </a:extLst>
                </p:cNvPr>
                <p:cNvPicPr/>
                <p:nvPr/>
              </p:nvPicPr>
              <p:blipFill>
                <a:blip r:embed="rId18"/>
                <a:stretch>
                  <a:fillRect/>
                </a:stretch>
              </p:blipFill>
              <p:spPr>
                <a:xfrm>
                  <a:off x="10197273" y="1608273"/>
                  <a:ext cx="11916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1A82BC23-2BAA-A6BF-A8FC-2FA90F3E3281}"/>
                    </a:ext>
                  </a:extLst>
                </p14:cNvPr>
                <p14:cNvContentPartPr/>
                <p14:nvPr/>
              </p14:nvContentPartPr>
              <p14:xfrm>
                <a:off x="10279713" y="1655433"/>
                <a:ext cx="360" cy="360"/>
              </p14:xfrm>
            </p:contentPart>
          </mc:Choice>
          <mc:Fallback xmlns="">
            <p:pic>
              <p:nvPicPr>
                <p:cNvPr id="19" name="Ink 18">
                  <a:extLst>
                    <a:ext uri="{FF2B5EF4-FFF2-40B4-BE49-F238E27FC236}">
                      <a16:creationId xmlns:a16="http://schemas.microsoft.com/office/drawing/2014/main" id="{1A82BC23-2BAA-A6BF-A8FC-2FA90F3E3281}"/>
                    </a:ext>
                  </a:extLst>
                </p:cNvPr>
                <p:cNvPicPr/>
                <p:nvPr/>
              </p:nvPicPr>
              <p:blipFill>
                <a:blip r:embed="rId12"/>
                <a:stretch>
                  <a:fillRect/>
                </a:stretch>
              </p:blipFill>
              <p:spPr>
                <a:xfrm>
                  <a:off x="10217073" y="159243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877711D1-3425-72F7-BC93-A314A8FD7441}"/>
                    </a:ext>
                  </a:extLst>
                </p14:cNvPr>
                <p14:cNvContentPartPr/>
                <p14:nvPr/>
              </p14:nvContentPartPr>
              <p14:xfrm>
                <a:off x="10279713" y="1669113"/>
                <a:ext cx="360" cy="360"/>
              </p14:xfrm>
            </p:contentPart>
          </mc:Choice>
          <mc:Fallback xmlns="">
            <p:pic>
              <p:nvPicPr>
                <p:cNvPr id="20" name="Ink 19">
                  <a:extLst>
                    <a:ext uri="{FF2B5EF4-FFF2-40B4-BE49-F238E27FC236}">
                      <a16:creationId xmlns:a16="http://schemas.microsoft.com/office/drawing/2014/main" id="{877711D1-3425-72F7-BC93-A314A8FD7441}"/>
                    </a:ext>
                  </a:extLst>
                </p:cNvPr>
                <p:cNvPicPr/>
                <p:nvPr/>
              </p:nvPicPr>
              <p:blipFill>
                <a:blip r:embed="rId12"/>
                <a:stretch>
                  <a:fillRect/>
                </a:stretch>
              </p:blipFill>
              <p:spPr>
                <a:xfrm>
                  <a:off x="10217073" y="1606473"/>
                  <a:ext cx="126000" cy="126000"/>
                </a:xfrm>
                <a:prstGeom prst="rect">
                  <a:avLst/>
                </a:prstGeom>
              </p:spPr>
            </p:pic>
          </mc:Fallback>
        </mc:AlternateContent>
      </p:grpSp>
      <p:pic>
        <p:nvPicPr>
          <p:cNvPr id="23" name="Picture 22">
            <a:extLst>
              <a:ext uri="{FF2B5EF4-FFF2-40B4-BE49-F238E27FC236}">
                <a16:creationId xmlns:a16="http://schemas.microsoft.com/office/drawing/2014/main" id="{79F1DDCC-0E43-C0A6-6DFE-868BDEC0B569}"/>
              </a:ext>
            </a:extLst>
          </p:cNvPr>
          <p:cNvPicPr>
            <a:picLocks noChangeAspect="1"/>
          </p:cNvPicPr>
          <p:nvPr/>
        </p:nvPicPr>
        <p:blipFill>
          <a:blip r:embed="rId21"/>
          <a:stretch>
            <a:fillRect/>
          </a:stretch>
        </p:blipFill>
        <p:spPr>
          <a:xfrm>
            <a:off x="781085" y="1817793"/>
            <a:ext cx="3683925" cy="392761"/>
          </a:xfrm>
          <a:prstGeom prst="rect">
            <a:avLst/>
          </a:prstGeom>
        </p:spPr>
      </p:pic>
      <p:pic>
        <p:nvPicPr>
          <p:cNvPr id="25" name="Picture 24">
            <a:extLst>
              <a:ext uri="{FF2B5EF4-FFF2-40B4-BE49-F238E27FC236}">
                <a16:creationId xmlns:a16="http://schemas.microsoft.com/office/drawing/2014/main" id="{65EEFC8C-BACA-5012-0CCC-3E66F638D2CE}"/>
              </a:ext>
            </a:extLst>
          </p:cNvPr>
          <p:cNvPicPr>
            <a:picLocks noChangeAspect="1"/>
          </p:cNvPicPr>
          <p:nvPr/>
        </p:nvPicPr>
        <p:blipFill>
          <a:blip r:embed="rId22"/>
          <a:stretch>
            <a:fillRect/>
          </a:stretch>
        </p:blipFill>
        <p:spPr>
          <a:xfrm>
            <a:off x="768927" y="4380050"/>
            <a:ext cx="5128056" cy="725350"/>
          </a:xfrm>
          <a:prstGeom prst="rect">
            <a:avLst/>
          </a:prstGeom>
        </p:spPr>
      </p:pic>
    </p:spTree>
    <p:extLst>
      <p:ext uri="{BB962C8B-B14F-4D97-AF65-F5344CB8AC3E}">
        <p14:creationId xmlns:p14="http://schemas.microsoft.com/office/powerpoint/2010/main" val="2320663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26C6-3E03-7744-D2A9-40DB601C0BCB}"/>
              </a:ext>
            </a:extLst>
          </p:cNvPr>
          <p:cNvSpPr>
            <a:spLocks noGrp="1"/>
          </p:cNvSpPr>
          <p:nvPr>
            <p:ph type="title"/>
          </p:nvPr>
        </p:nvSpPr>
        <p:spPr/>
        <p:txBody>
          <a:bodyPr>
            <a:normAutofit/>
          </a:bodyPr>
          <a:lstStyle/>
          <a:p>
            <a:r>
              <a:rPr lang="en-IN" b="1" i="0" u="none" strike="noStrike" dirty="0">
                <a:solidFill>
                  <a:srgbClr val="000000"/>
                </a:solidFill>
                <a:effectLst/>
                <a:latin typeface="Arial" panose="020B0604020202020204" pitchFamily="34" charset="0"/>
              </a:rPr>
              <a:t>Computing the DMD Operator</a:t>
            </a:r>
            <a:endParaRPr lang="en-IN" sz="8800" dirty="0"/>
          </a:p>
        </p:txBody>
      </p:sp>
      <p:pic>
        <p:nvPicPr>
          <p:cNvPr id="5" name="Content Placeholder 4">
            <a:extLst>
              <a:ext uri="{FF2B5EF4-FFF2-40B4-BE49-F238E27FC236}">
                <a16:creationId xmlns:a16="http://schemas.microsoft.com/office/drawing/2014/main" id="{04CD09DB-2960-4DBD-8A80-6D227511D88F}"/>
              </a:ext>
            </a:extLst>
          </p:cNvPr>
          <p:cNvPicPr>
            <a:picLocks noGrp="1" noChangeAspect="1"/>
          </p:cNvPicPr>
          <p:nvPr>
            <p:ph idx="1"/>
          </p:nvPr>
        </p:nvPicPr>
        <p:blipFill>
          <a:blip r:embed="rId2"/>
          <a:stretch>
            <a:fillRect/>
          </a:stretch>
        </p:blipFill>
        <p:spPr>
          <a:xfrm>
            <a:off x="924929" y="1630709"/>
            <a:ext cx="9063295" cy="678883"/>
          </a:xfrm>
        </p:spPr>
      </p:pic>
      <p:pic>
        <p:nvPicPr>
          <p:cNvPr id="7" name="Picture 6">
            <a:extLst>
              <a:ext uri="{FF2B5EF4-FFF2-40B4-BE49-F238E27FC236}">
                <a16:creationId xmlns:a16="http://schemas.microsoft.com/office/drawing/2014/main" id="{6BF5FF4D-7151-72A9-6F92-BCF286CBA029}"/>
              </a:ext>
            </a:extLst>
          </p:cNvPr>
          <p:cNvPicPr>
            <a:picLocks noChangeAspect="1"/>
          </p:cNvPicPr>
          <p:nvPr/>
        </p:nvPicPr>
        <p:blipFill>
          <a:blip r:embed="rId3"/>
          <a:stretch>
            <a:fillRect/>
          </a:stretch>
        </p:blipFill>
        <p:spPr>
          <a:xfrm>
            <a:off x="924929" y="2614440"/>
            <a:ext cx="4153349" cy="613725"/>
          </a:xfrm>
          <a:prstGeom prst="rect">
            <a:avLst/>
          </a:prstGeom>
        </p:spPr>
      </p:pic>
      <p:sp>
        <p:nvSpPr>
          <p:cNvPr id="9" name="TextBox 8">
            <a:extLst>
              <a:ext uri="{FF2B5EF4-FFF2-40B4-BE49-F238E27FC236}">
                <a16:creationId xmlns:a16="http://schemas.microsoft.com/office/drawing/2014/main" id="{CCA3329E-F7AE-D20F-794A-F6F710B8E25F}"/>
              </a:ext>
            </a:extLst>
          </p:cNvPr>
          <p:cNvSpPr txBox="1"/>
          <p:nvPr/>
        </p:nvSpPr>
        <p:spPr>
          <a:xfrm>
            <a:off x="924929" y="3598169"/>
            <a:ext cx="7301346" cy="369332"/>
          </a:xfrm>
          <a:prstGeom prst="rect">
            <a:avLst/>
          </a:prstGeom>
          <a:noFill/>
        </p:spPr>
        <p:txBody>
          <a:bodyPr wrap="square">
            <a:spAutoFit/>
          </a:bodyPr>
          <a:lstStyle/>
          <a:p>
            <a:r>
              <a:rPr lang="en-US" dirty="0"/>
              <a:t>If we let the eigenvalues and eigenvectors of      as Λ and W, i.e.,       W = WΛ</a:t>
            </a:r>
            <a:endParaRPr lang="en-IN" dirty="0"/>
          </a:p>
        </p:txBody>
      </p:sp>
      <p:pic>
        <p:nvPicPr>
          <p:cNvPr id="11" name="Picture 10">
            <a:extLst>
              <a:ext uri="{FF2B5EF4-FFF2-40B4-BE49-F238E27FC236}">
                <a16:creationId xmlns:a16="http://schemas.microsoft.com/office/drawing/2014/main" id="{AAF73220-58DA-1306-5AF2-2C39F97BFFEC}"/>
              </a:ext>
            </a:extLst>
          </p:cNvPr>
          <p:cNvPicPr>
            <a:picLocks noChangeAspect="1"/>
          </p:cNvPicPr>
          <p:nvPr/>
        </p:nvPicPr>
        <p:blipFill>
          <a:blip r:embed="rId4"/>
          <a:stretch>
            <a:fillRect/>
          </a:stretch>
        </p:blipFill>
        <p:spPr>
          <a:xfrm>
            <a:off x="5225753" y="3662084"/>
            <a:ext cx="228708" cy="266133"/>
          </a:xfrm>
          <a:prstGeom prst="rect">
            <a:avLst/>
          </a:prstGeom>
        </p:spPr>
      </p:pic>
      <p:pic>
        <p:nvPicPr>
          <p:cNvPr id="13" name="Picture 12">
            <a:extLst>
              <a:ext uri="{FF2B5EF4-FFF2-40B4-BE49-F238E27FC236}">
                <a16:creationId xmlns:a16="http://schemas.microsoft.com/office/drawing/2014/main" id="{D94DD598-0843-F37A-B620-5A9AEDFA34C7}"/>
              </a:ext>
            </a:extLst>
          </p:cNvPr>
          <p:cNvPicPr>
            <a:picLocks noChangeAspect="1"/>
          </p:cNvPicPr>
          <p:nvPr/>
        </p:nvPicPr>
        <p:blipFill>
          <a:blip r:embed="rId4"/>
          <a:stretch>
            <a:fillRect/>
          </a:stretch>
        </p:blipFill>
        <p:spPr>
          <a:xfrm>
            <a:off x="7078220" y="3649768"/>
            <a:ext cx="228709" cy="266134"/>
          </a:xfrm>
          <a:prstGeom prst="rect">
            <a:avLst/>
          </a:prstGeom>
        </p:spPr>
      </p:pic>
      <p:pic>
        <p:nvPicPr>
          <p:cNvPr id="15" name="Picture 14">
            <a:extLst>
              <a:ext uri="{FF2B5EF4-FFF2-40B4-BE49-F238E27FC236}">
                <a16:creationId xmlns:a16="http://schemas.microsoft.com/office/drawing/2014/main" id="{B6026C8F-CC91-586B-AFF4-3BD1187F62C4}"/>
              </a:ext>
            </a:extLst>
          </p:cNvPr>
          <p:cNvPicPr>
            <a:picLocks noChangeAspect="1"/>
          </p:cNvPicPr>
          <p:nvPr/>
        </p:nvPicPr>
        <p:blipFill>
          <a:blip r:embed="rId5"/>
          <a:stretch>
            <a:fillRect/>
          </a:stretch>
        </p:blipFill>
        <p:spPr>
          <a:xfrm>
            <a:off x="924929" y="4348778"/>
            <a:ext cx="4076890" cy="466240"/>
          </a:xfrm>
          <a:prstGeom prst="rect">
            <a:avLst/>
          </a:prstGeom>
        </p:spPr>
      </p:pic>
      <p:sp>
        <p:nvSpPr>
          <p:cNvPr id="17" name="TextBox 16">
            <a:extLst>
              <a:ext uri="{FF2B5EF4-FFF2-40B4-BE49-F238E27FC236}">
                <a16:creationId xmlns:a16="http://schemas.microsoft.com/office/drawing/2014/main" id="{D383F56B-99CF-141B-59F2-1F7068B41078}"/>
              </a:ext>
            </a:extLst>
          </p:cNvPr>
          <p:cNvSpPr txBox="1"/>
          <p:nvPr/>
        </p:nvSpPr>
        <p:spPr>
          <a:xfrm>
            <a:off x="1032163" y="5345866"/>
            <a:ext cx="10688781" cy="1477328"/>
          </a:xfrm>
          <a:prstGeom prst="rect">
            <a:avLst/>
          </a:prstGeom>
          <a:noFill/>
        </p:spPr>
        <p:txBody>
          <a:bodyPr wrap="square">
            <a:spAutoFit/>
          </a:bodyPr>
          <a:lstStyle/>
          <a:p>
            <a:pPr rtl="0">
              <a:buNone/>
            </a:pPr>
            <a:r>
              <a:rPr lang="en-US" dirty="0">
                <a:solidFill>
                  <a:srgbClr val="000000"/>
                </a:solidFill>
                <a:latin typeface="Arial" panose="020B0604020202020204" pitchFamily="34" charset="0"/>
              </a:rPr>
              <a:t>Here,</a:t>
            </a:r>
            <a:endParaRPr lang="en-US" b="0" dirty="0">
              <a:effectLst/>
            </a:endParaRPr>
          </a:p>
          <a:p>
            <a:pPr>
              <a:buNone/>
            </a:pPr>
            <a:r>
              <a:rPr lang="en-US" sz="1800" b="0" i="0" u="none" strike="noStrike" dirty="0">
                <a:solidFill>
                  <a:srgbClr val="000000"/>
                </a:solidFill>
                <a:effectLst/>
                <a:latin typeface="Arial" panose="020B0604020202020204" pitchFamily="34" charset="0"/>
              </a:rPr>
              <a:t>Λ contains the DMD eigenvalues (growth/decay rates and oscillation frequencies) </a:t>
            </a:r>
            <a:r>
              <a:rPr lang="en-US" dirty="0">
                <a:solidFill>
                  <a:srgbClr val="000000"/>
                </a:solidFill>
                <a:latin typeface="Arial" panose="020B0604020202020204" pitchFamily="34" charset="0"/>
              </a:rPr>
              <a:t>a</a:t>
            </a:r>
            <a:r>
              <a:rPr lang="en-US" sz="1800" b="0" i="0" u="none" strike="noStrike" dirty="0">
                <a:solidFill>
                  <a:srgbClr val="000000"/>
                </a:solidFill>
                <a:effectLst/>
                <a:latin typeface="Arial" panose="020B0604020202020204" pitchFamily="34" charset="0"/>
              </a:rPr>
              <a:t>nd </a:t>
            </a:r>
          </a:p>
          <a:p>
            <a:pPr>
              <a:buNone/>
            </a:pPr>
            <a:r>
              <a:rPr lang="en-US" dirty="0">
                <a:solidFill>
                  <a:srgbClr val="000000"/>
                </a:solidFill>
                <a:latin typeface="Arial" panose="020B0604020202020204" pitchFamily="34" charset="0"/>
              </a:rPr>
              <a:t>d</a:t>
            </a:r>
            <a:r>
              <a:rPr lang="en-US" sz="1800" b="0" i="0" u="none" strike="noStrike" dirty="0">
                <a:solidFill>
                  <a:srgbClr val="000000"/>
                </a:solidFill>
                <a:effectLst/>
                <a:latin typeface="Arial" panose="020B0604020202020204" pitchFamily="34" charset="0"/>
              </a:rPr>
              <a:t>enotes</a:t>
            </a:r>
            <a:r>
              <a:rPr lang="en-IN" dirty="0"/>
              <a:t> spatio-temporal coherency and                       denotes</a:t>
            </a:r>
            <a:r>
              <a:rPr lang="en-US" dirty="0"/>
              <a:t> the temporal distribution of the mode amplitudes.</a:t>
            </a:r>
          </a:p>
          <a:p>
            <a:pPr>
              <a:buNone/>
            </a:pPr>
            <a:br>
              <a:rPr lang="en-US" sz="1800" b="0" i="0" u="none" strike="noStrike" dirty="0">
                <a:solidFill>
                  <a:srgbClr val="000000"/>
                </a:solidFill>
                <a:effectLst/>
                <a:latin typeface="Arial" panose="020B0604020202020204" pitchFamily="34" charset="0"/>
              </a:rPr>
            </a:br>
            <a:endParaRPr lang="en-IN" dirty="0"/>
          </a:p>
        </p:txBody>
      </p:sp>
      <p:pic>
        <p:nvPicPr>
          <p:cNvPr id="19" name="Picture 18">
            <a:extLst>
              <a:ext uri="{FF2B5EF4-FFF2-40B4-BE49-F238E27FC236}">
                <a16:creationId xmlns:a16="http://schemas.microsoft.com/office/drawing/2014/main" id="{F371D2AE-F26A-F7F7-E732-E942FFB877FC}"/>
              </a:ext>
            </a:extLst>
          </p:cNvPr>
          <p:cNvPicPr>
            <a:picLocks noChangeAspect="1"/>
          </p:cNvPicPr>
          <p:nvPr/>
        </p:nvPicPr>
        <p:blipFill>
          <a:blip r:embed="rId6"/>
          <a:stretch>
            <a:fillRect/>
          </a:stretch>
        </p:blipFill>
        <p:spPr>
          <a:xfrm>
            <a:off x="9822276" y="5633413"/>
            <a:ext cx="790306" cy="312618"/>
          </a:xfrm>
          <a:prstGeom prst="rect">
            <a:avLst/>
          </a:prstGeom>
        </p:spPr>
      </p:pic>
      <p:pic>
        <p:nvPicPr>
          <p:cNvPr id="21" name="Picture 20">
            <a:extLst>
              <a:ext uri="{FF2B5EF4-FFF2-40B4-BE49-F238E27FC236}">
                <a16:creationId xmlns:a16="http://schemas.microsoft.com/office/drawing/2014/main" id="{70B0A087-7509-486E-A15B-6E7544DCDBCB}"/>
              </a:ext>
            </a:extLst>
          </p:cNvPr>
          <p:cNvPicPr>
            <a:picLocks noChangeAspect="1"/>
          </p:cNvPicPr>
          <p:nvPr/>
        </p:nvPicPr>
        <p:blipFill>
          <a:blip r:embed="rId7"/>
          <a:stretch>
            <a:fillRect/>
          </a:stretch>
        </p:blipFill>
        <p:spPr>
          <a:xfrm>
            <a:off x="4984693" y="5925326"/>
            <a:ext cx="1111307" cy="318408"/>
          </a:xfrm>
          <a:prstGeom prst="rect">
            <a:avLst/>
          </a:prstGeom>
        </p:spPr>
      </p:pic>
    </p:spTree>
    <p:extLst>
      <p:ext uri="{BB962C8B-B14F-4D97-AF65-F5344CB8AC3E}">
        <p14:creationId xmlns:p14="http://schemas.microsoft.com/office/powerpoint/2010/main" val="923154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ADBD2-832C-294C-C992-5149D21A616C}"/>
              </a:ext>
            </a:extLst>
          </p:cNvPr>
          <p:cNvSpPr>
            <a:spLocks noGrp="1"/>
          </p:cNvSpPr>
          <p:nvPr>
            <p:ph type="title"/>
          </p:nvPr>
        </p:nvSpPr>
        <p:spPr>
          <a:xfrm>
            <a:off x="838200" y="365125"/>
            <a:ext cx="10515600" cy="1969366"/>
          </a:xfrm>
        </p:spPr>
        <p:txBody>
          <a:bodyPr>
            <a:normAutofit/>
          </a:bodyPr>
          <a:lstStyle/>
          <a:p>
            <a:r>
              <a:rPr lang="fr-FR" sz="2400" b="1" i="0" u="none" strike="noStrike" dirty="0">
                <a:solidFill>
                  <a:srgbClr val="000000"/>
                </a:solidFill>
                <a:effectLst/>
                <a:latin typeface="Arial" panose="020B0604020202020204" pitchFamily="34" charset="0"/>
              </a:rPr>
              <a:t>Improved Dynamic Mode Decomposition (DMD)</a:t>
            </a:r>
            <a:br>
              <a:rPr lang="fr-FR" sz="5400" b="1" dirty="0">
                <a:effectLst/>
              </a:rPr>
            </a:br>
            <a:endParaRPr lang="en-IN" sz="5400" dirty="0"/>
          </a:p>
        </p:txBody>
      </p:sp>
      <p:sp>
        <p:nvSpPr>
          <p:cNvPr id="5" name="TextBox 4">
            <a:extLst>
              <a:ext uri="{FF2B5EF4-FFF2-40B4-BE49-F238E27FC236}">
                <a16:creationId xmlns:a16="http://schemas.microsoft.com/office/drawing/2014/main" id="{1519743E-733E-B37B-A717-68D6EB9D92B6}"/>
              </a:ext>
            </a:extLst>
          </p:cNvPr>
          <p:cNvSpPr txBox="1"/>
          <p:nvPr/>
        </p:nvSpPr>
        <p:spPr>
          <a:xfrm>
            <a:off x="962890" y="1547244"/>
            <a:ext cx="10086109" cy="646331"/>
          </a:xfrm>
          <a:prstGeom prst="rect">
            <a:avLst/>
          </a:prstGeom>
          <a:noFill/>
        </p:spPr>
        <p:txBody>
          <a:bodyPr wrap="square">
            <a:spAutoFit/>
          </a:bodyPr>
          <a:lstStyle/>
          <a:p>
            <a:r>
              <a:rPr lang="en-US" sz="1800" b="0" i="0" u="none" strike="noStrike" dirty="0">
                <a:solidFill>
                  <a:srgbClr val="000000"/>
                </a:solidFill>
                <a:effectLst/>
                <a:latin typeface="Arial" panose="020B0604020202020204" pitchFamily="34" charset="0"/>
              </a:rPr>
              <a:t>Inspired by DMD with control (DMDc), which separates external control impacts from inherent system dynamics by incorporating control input    </a:t>
            </a:r>
            <a:endParaRPr lang="en-IN" dirty="0"/>
          </a:p>
        </p:txBody>
      </p:sp>
      <p:pic>
        <p:nvPicPr>
          <p:cNvPr id="7" name="Picture 6">
            <a:extLst>
              <a:ext uri="{FF2B5EF4-FFF2-40B4-BE49-F238E27FC236}">
                <a16:creationId xmlns:a16="http://schemas.microsoft.com/office/drawing/2014/main" id="{67E6BA82-BA68-8EDB-A41B-1C2F505C9753}"/>
              </a:ext>
            </a:extLst>
          </p:cNvPr>
          <p:cNvPicPr>
            <a:picLocks noChangeAspect="1"/>
          </p:cNvPicPr>
          <p:nvPr/>
        </p:nvPicPr>
        <p:blipFill>
          <a:blip r:embed="rId2"/>
          <a:stretch>
            <a:fillRect/>
          </a:stretch>
        </p:blipFill>
        <p:spPr>
          <a:xfrm>
            <a:off x="5846618" y="1892357"/>
            <a:ext cx="214746" cy="235528"/>
          </a:xfrm>
          <a:prstGeom prst="rect">
            <a:avLst/>
          </a:prstGeom>
        </p:spPr>
      </p:pic>
      <p:sp>
        <p:nvSpPr>
          <p:cNvPr id="9" name="TextBox 8">
            <a:extLst>
              <a:ext uri="{FF2B5EF4-FFF2-40B4-BE49-F238E27FC236}">
                <a16:creationId xmlns:a16="http://schemas.microsoft.com/office/drawing/2014/main" id="{E369032A-07B2-0A66-CE41-E9F78E677FBB}"/>
              </a:ext>
            </a:extLst>
          </p:cNvPr>
          <p:cNvSpPr txBox="1"/>
          <p:nvPr/>
        </p:nvSpPr>
        <p:spPr>
          <a:xfrm>
            <a:off x="962890" y="2193575"/>
            <a:ext cx="9947565" cy="1631216"/>
          </a:xfrm>
          <a:prstGeom prst="rect">
            <a:avLst/>
          </a:prstGeom>
          <a:noFill/>
        </p:spPr>
        <p:txBody>
          <a:bodyPr wrap="square">
            <a:spAutoFit/>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The improved DMD introduces the </a:t>
            </a:r>
            <a:r>
              <a:rPr lang="en-US" sz="1800" b="1" i="0" u="none" strike="noStrike" dirty="0">
                <a:solidFill>
                  <a:srgbClr val="000000"/>
                </a:solidFill>
                <a:effectLst/>
                <a:latin typeface="Arial" panose="020B0604020202020204" pitchFamily="34" charset="0"/>
              </a:rPr>
              <a:t>initial measurement state</a:t>
            </a:r>
            <a:r>
              <a:rPr lang="en-US" sz="1800" b="0" i="0" u="none" strike="noStrike" dirty="0">
                <a:solidFill>
                  <a:srgbClr val="000000"/>
                </a:solidFill>
                <a:effectLst/>
                <a:latin typeface="Arial" panose="020B0604020202020204" pitchFamily="34" charset="0"/>
              </a:rPr>
              <a:t> Xini as an input. This enhancement allows the model to focus solely on the oscillatory dynamics while decoupling the stationary base state.</a:t>
            </a:r>
            <a:endParaRPr lang="en-US" b="0" dirty="0">
              <a:effectLst/>
            </a:endParaRPr>
          </a:p>
          <a:p>
            <a:pPr>
              <a:buNone/>
            </a:pPr>
            <a:br>
              <a:rPr lang="en-US" dirty="0"/>
            </a:br>
            <a:endParaRPr lang="en-IN" dirty="0"/>
          </a:p>
        </p:txBody>
      </p:sp>
      <p:pic>
        <p:nvPicPr>
          <p:cNvPr id="11" name="Picture 10">
            <a:extLst>
              <a:ext uri="{FF2B5EF4-FFF2-40B4-BE49-F238E27FC236}">
                <a16:creationId xmlns:a16="http://schemas.microsoft.com/office/drawing/2014/main" id="{EC64AB9D-97A4-BD43-F845-0AC8EA9D22BB}"/>
              </a:ext>
            </a:extLst>
          </p:cNvPr>
          <p:cNvPicPr>
            <a:picLocks noChangeAspect="1"/>
          </p:cNvPicPr>
          <p:nvPr/>
        </p:nvPicPr>
        <p:blipFill>
          <a:blip r:embed="rId3"/>
          <a:stretch>
            <a:fillRect/>
          </a:stretch>
        </p:blipFill>
        <p:spPr>
          <a:xfrm>
            <a:off x="1644617" y="3375694"/>
            <a:ext cx="2026504" cy="461481"/>
          </a:xfrm>
          <a:prstGeom prst="rect">
            <a:avLst/>
          </a:prstGeom>
        </p:spPr>
      </p:pic>
      <p:pic>
        <p:nvPicPr>
          <p:cNvPr id="13" name="Picture 12">
            <a:extLst>
              <a:ext uri="{FF2B5EF4-FFF2-40B4-BE49-F238E27FC236}">
                <a16:creationId xmlns:a16="http://schemas.microsoft.com/office/drawing/2014/main" id="{FFF2A388-579E-4CF9-D775-EEF789840D31}"/>
              </a:ext>
            </a:extLst>
          </p:cNvPr>
          <p:cNvPicPr>
            <a:picLocks noChangeAspect="1"/>
          </p:cNvPicPr>
          <p:nvPr/>
        </p:nvPicPr>
        <p:blipFill>
          <a:blip r:embed="rId4"/>
          <a:stretch>
            <a:fillRect/>
          </a:stretch>
        </p:blipFill>
        <p:spPr>
          <a:xfrm>
            <a:off x="1344113" y="4305565"/>
            <a:ext cx="3068559" cy="1395580"/>
          </a:xfrm>
          <a:prstGeom prst="rect">
            <a:avLst/>
          </a:prstGeom>
        </p:spPr>
      </p:pic>
    </p:spTree>
    <p:extLst>
      <p:ext uri="{BB962C8B-B14F-4D97-AF65-F5344CB8AC3E}">
        <p14:creationId xmlns:p14="http://schemas.microsoft.com/office/powerpoint/2010/main" val="2620609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330D43E-3075-C895-8D6B-CF0411DFC802}"/>
              </a:ext>
            </a:extLst>
          </p:cNvPr>
          <p:cNvSpPr txBox="1"/>
          <p:nvPr/>
        </p:nvSpPr>
        <p:spPr>
          <a:xfrm>
            <a:off x="574964" y="244173"/>
            <a:ext cx="6096000" cy="1077218"/>
          </a:xfrm>
          <a:prstGeom prst="rect">
            <a:avLst/>
          </a:prstGeom>
          <a:noFill/>
        </p:spPr>
        <p:txBody>
          <a:bodyPr wrap="square">
            <a:spAutoFit/>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For any discrete time k, the system evolves as:</a:t>
            </a:r>
            <a:endParaRPr lang="en-US" b="0" dirty="0">
              <a:effectLst/>
            </a:endParaRPr>
          </a:p>
          <a:p>
            <a:pPr>
              <a:buNone/>
            </a:pPr>
            <a:br>
              <a:rPr lang="en-US" dirty="0"/>
            </a:br>
            <a:endParaRPr lang="en-IN" dirty="0"/>
          </a:p>
        </p:txBody>
      </p:sp>
      <p:pic>
        <p:nvPicPr>
          <p:cNvPr id="7" name="Picture 6">
            <a:extLst>
              <a:ext uri="{FF2B5EF4-FFF2-40B4-BE49-F238E27FC236}">
                <a16:creationId xmlns:a16="http://schemas.microsoft.com/office/drawing/2014/main" id="{E8CF4F9D-BAC7-1502-99B9-83C95472E6A0}"/>
              </a:ext>
            </a:extLst>
          </p:cNvPr>
          <p:cNvPicPr>
            <a:picLocks noChangeAspect="1"/>
          </p:cNvPicPr>
          <p:nvPr/>
        </p:nvPicPr>
        <p:blipFill>
          <a:blip r:embed="rId2"/>
          <a:stretch>
            <a:fillRect/>
          </a:stretch>
        </p:blipFill>
        <p:spPr>
          <a:xfrm>
            <a:off x="345914" y="795833"/>
            <a:ext cx="6404329" cy="775855"/>
          </a:xfrm>
          <a:prstGeom prst="rect">
            <a:avLst/>
          </a:prstGeom>
        </p:spPr>
      </p:pic>
      <p:sp>
        <p:nvSpPr>
          <p:cNvPr id="9" name="TextBox 8">
            <a:extLst>
              <a:ext uri="{FF2B5EF4-FFF2-40B4-BE49-F238E27FC236}">
                <a16:creationId xmlns:a16="http://schemas.microsoft.com/office/drawing/2014/main" id="{88A8724A-B0AB-F725-DDCD-991DF065DA85}"/>
              </a:ext>
            </a:extLst>
          </p:cNvPr>
          <p:cNvSpPr txBox="1"/>
          <p:nvPr/>
        </p:nvSpPr>
        <p:spPr>
          <a:xfrm>
            <a:off x="574964" y="1601244"/>
            <a:ext cx="10342418" cy="1077218"/>
          </a:xfrm>
          <a:prstGeom prst="rect">
            <a:avLst/>
          </a:prstGeom>
          <a:noFill/>
        </p:spPr>
        <p:txBody>
          <a:bodyPr wrap="square">
            <a:spAutoFit/>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Here, f(k) represents the oscillation dynamics evolving over time.</a:t>
            </a:r>
            <a:r>
              <a:rPr lang="en-US" dirty="0"/>
              <a:t> </a:t>
            </a:r>
            <a:r>
              <a:rPr lang="en-US" sz="1800" b="0" i="0" u="none" strike="noStrike" dirty="0">
                <a:solidFill>
                  <a:srgbClr val="000000"/>
                </a:solidFill>
                <a:effectLst/>
                <a:latin typeface="Arial" panose="020B0604020202020204" pitchFamily="34" charset="0"/>
              </a:rPr>
              <a:t>At k=1, the relationship becomes:</a:t>
            </a:r>
            <a:endParaRPr lang="en-US" b="0" dirty="0">
              <a:effectLst/>
            </a:endParaRPr>
          </a:p>
          <a:p>
            <a:pPr>
              <a:buNone/>
            </a:pPr>
            <a:br>
              <a:rPr lang="en-US" dirty="0"/>
            </a:br>
            <a:endParaRPr lang="en-IN" dirty="0"/>
          </a:p>
        </p:txBody>
      </p:sp>
      <p:pic>
        <p:nvPicPr>
          <p:cNvPr id="11" name="Picture 10">
            <a:extLst>
              <a:ext uri="{FF2B5EF4-FFF2-40B4-BE49-F238E27FC236}">
                <a16:creationId xmlns:a16="http://schemas.microsoft.com/office/drawing/2014/main" id="{1622D706-302E-6396-C9E5-6338FCF01019}"/>
              </a:ext>
            </a:extLst>
          </p:cNvPr>
          <p:cNvPicPr>
            <a:picLocks noChangeAspect="1"/>
          </p:cNvPicPr>
          <p:nvPr/>
        </p:nvPicPr>
        <p:blipFill>
          <a:blip r:embed="rId3"/>
          <a:srcRect l="22480" t="1" b="763"/>
          <a:stretch/>
        </p:blipFill>
        <p:spPr>
          <a:xfrm>
            <a:off x="598548" y="2266095"/>
            <a:ext cx="6072416" cy="453711"/>
          </a:xfrm>
          <a:prstGeom prst="rect">
            <a:avLst/>
          </a:prstGeom>
        </p:spPr>
      </p:pic>
      <p:pic>
        <p:nvPicPr>
          <p:cNvPr id="15" name="Picture 14">
            <a:extLst>
              <a:ext uri="{FF2B5EF4-FFF2-40B4-BE49-F238E27FC236}">
                <a16:creationId xmlns:a16="http://schemas.microsoft.com/office/drawing/2014/main" id="{680117D5-846E-B8AD-9B05-B4256EE92D40}"/>
              </a:ext>
            </a:extLst>
          </p:cNvPr>
          <p:cNvPicPr>
            <a:picLocks noChangeAspect="1"/>
          </p:cNvPicPr>
          <p:nvPr/>
        </p:nvPicPr>
        <p:blipFill>
          <a:blip r:embed="rId4"/>
          <a:stretch>
            <a:fillRect/>
          </a:stretch>
        </p:blipFill>
        <p:spPr>
          <a:xfrm>
            <a:off x="6590282" y="2182827"/>
            <a:ext cx="882695" cy="635033"/>
          </a:xfrm>
          <a:prstGeom prst="rect">
            <a:avLst/>
          </a:prstGeom>
        </p:spPr>
      </p:pic>
      <p:pic>
        <p:nvPicPr>
          <p:cNvPr id="17" name="Picture 16">
            <a:extLst>
              <a:ext uri="{FF2B5EF4-FFF2-40B4-BE49-F238E27FC236}">
                <a16:creationId xmlns:a16="http://schemas.microsoft.com/office/drawing/2014/main" id="{03B57D52-21AA-1652-0D6A-AFA388B0B85A}"/>
              </a:ext>
            </a:extLst>
          </p:cNvPr>
          <p:cNvPicPr>
            <a:picLocks noChangeAspect="1"/>
          </p:cNvPicPr>
          <p:nvPr/>
        </p:nvPicPr>
        <p:blipFill>
          <a:blip r:embed="rId5"/>
          <a:stretch>
            <a:fillRect/>
          </a:stretch>
        </p:blipFill>
        <p:spPr>
          <a:xfrm>
            <a:off x="574964" y="3429000"/>
            <a:ext cx="7713079" cy="453711"/>
          </a:xfrm>
          <a:prstGeom prst="rect">
            <a:avLst/>
          </a:prstGeom>
        </p:spPr>
      </p:pic>
      <p:sp>
        <p:nvSpPr>
          <p:cNvPr id="19" name="TextBox 18">
            <a:extLst>
              <a:ext uri="{FF2B5EF4-FFF2-40B4-BE49-F238E27FC236}">
                <a16:creationId xmlns:a16="http://schemas.microsoft.com/office/drawing/2014/main" id="{AB3D09A3-C5B3-1B8D-491F-2E16084B718D}"/>
              </a:ext>
            </a:extLst>
          </p:cNvPr>
          <p:cNvSpPr txBox="1"/>
          <p:nvPr/>
        </p:nvSpPr>
        <p:spPr>
          <a:xfrm>
            <a:off x="576086" y="4333426"/>
            <a:ext cx="6094878" cy="923330"/>
          </a:xfrm>
          <a:prstGeom prst="rect">
            <a:avLst/>
          </a:prstGeom>
          <a:noFill/>
        </p:spPr>
        <p:txBody>
          <a:bodyPr wrap="square">
            <a:spAutoFit/>
          </a:bodyPr>
          <a:lstStyle/>
          <a:p>
            <a:pPr rtl="0">
              <a:buNone/>
            </a:pPr>
            <a:r>
              <a:rPr lang="en-US" sz="1800" b="0" i="0" u="none" strike="noStrike" dirty="0">
                <a:solidFill>
                  <a:srgbClr val="000000"/>
                </a:solidFill>
                <a:effectLst/>
                <a:latin typeface="Arial" panose="020B0604020202020204" pitchFamily="34" charset="0"/>
              </a:rPr>
              <a:t>Substituting back, we get the modified state relationship:</a:t>
            </a:r>
            <a:endParaRPr lang="en-US" b="0" dirty="0">
              <a:effectLst/>
            </a:endParaRPr>
          </a:p>
          <a:p>
            <a:pPr>
              <a:buNone/>
            </a:pPr>
            <a:br>
              <a:rPr lang="en-US" dirty="0"/>
            </a:br>
            <a:endParaRPr lang="en-IN" dirty="0"/>
          </a:p>
        </p:txBody>
      </p:sp>
      <p:pic>
        <p:nvPicPr>
          <p:cNvPr id="21" name="Picture 20">
            <a:extLst>
              <a:ext uri="{FF2B5EF4-FFF2-40B4-BE49-F238E27FC236}">
                <a16:creationId xmlns:a16="http://schemas.microsoft.com/office/drawing/2014/main" id="{68A0634E-3D20-6FF4-2109-29374167E2AD}"/>
              </a:ext>
            </a:extLst>
          </p:cNvPr>
          <p:cNvPicPr>
            <a:picLocks noChangeAspect="1"/>
          </p:cNvPicPr>
          <p:nvPr/>
        </p:nvPicPr>
        <p:blipFill>
          <a:blip r:embed="rId6"/>
          <a:stretch>
            <a:fillRect/>
          </a:stretch>
        </p:blipFill>
        <p:spPr>
          <a:xfrm>
            <a:off x="574964" y="5098851"/>
            <a:ext cx="5432458" cy="814261"/>
          </a:xfrm>
          <a:prstGeom prst="rect">
            <a:avLst/>
          </a:prstGeom>
        </p:spPr>
      </p:pic>
    </p:spTree>
    <p:extLst>
      <p:ext uri="{BB962C8B-B14F-4D97-AF65-F5344CB8AC3E}">
        <p14:creationId xmlns:p14="http://schemas.microsoft.com/office/powerpoint/2010/main" val="2891207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49766-0553-CDFB-E41A-66ED1ABEB59B}"/>
              </a:ext>
            </a:extLst>
          </p:cNvPr>
          <p:cNvSpPr>
            <a:spLocks noGrp="1"/>
          </p:cNvSpPr>
          <p:nvPr>
            <p:ph type="title"/>
          </p:nvPr>
        </p:nvSpPr>
        <p:spPr>
          <a:xfrm>
            <a:off x="838200" y="365125"/>
            <a:ext cx="10515600" cy="1820022"/>
          </a:xfrm>
        </p:spPr>
        <p:txBody>
          <a:bodyPr>
            <a:normAutofit/>
          </a:bodyPr>
          <a:lstStyle/>
          <a:p>
            <a:r>
              <a:rPr lang="en-IN" sz="3200" b="1" i="0" u="none" strike="noStrike" dirty="0">
                <a:solidFill>
                  <a:srgbClr val="000000"/>
                </a:solidFill>
                <a:effectLst/>
                <a:latin typeface="Arial" panose="020B0604020202020204" pitchFamily="34" charset="0"/>
              </a:rPr>
              <a:t>SVD-Based Decomposition</a:t>
            </a:r>
            <a:br>
              <a:rPr lang="en-IN" sz="6000" b="1" dirty="0">
                <a:effectLst/>
              </a:rPr>
            </a:br>
            <a:endParaRPr lang="en-IN" sz="6000" dirty="0"/>
          </a:p>
        </p:txBody>
      </p:sp>
      <p:sp>
        <p:nvSpPr>
          <p:cNvPr id="5" name="TextBox 4">
            <a:extLst>
              <a:ext uri="{FF2B5EF4-FFF2-40B4-BE49-F238E27FC236}">
                <a16:creationId xmlns:a16="http://schemas.microsoft.com/office/drawing/2014/main" id="{2E50DAA8-F6AC-7C5F-2249-68C43056B114}"/>
              </a:ext>
            </a:extLst>
          </p:cNvPr>
          <p:cNvSpPr txBox="1"/>
          <p:nvPr/>
        </p:nvSpPr>
        <p:spPr>
          <a:xfrm>
            <a:off x="564776" y="1776227"/>
            <a:ext cx="8594912" cy="1077218"/>
          </a:xfrm>
          <a:prstGeom prst="rect">
            <a:avLst/>
          </a:prstGeom>
          <a:noFill/>
        </p:spPr>
        <p:txBody>
          <a:bodyPr wrap="square">
            <a:spAutoFit/>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Apply Singular Value Decomposition (SVD) to the input matrix:</a:t>
            </a:r>
            <a:endParaRPr lang="en-US" b="0" dirty="0">
              <a:effectLst/>
            </a:endParaRPr>
          </a:p>
          <a:p>
            <a:pPr>
              <a:buNone/>
            </a:pPr>
            <a:br>
              <a:rPr lang="en-US" dirty="0"/>
            </a:br>
            <a:endParaRPr lang="en-IN" dirty="0"/>
          </a:p>
        </p:txBody>
      </p:sp>
      <p:pic>
        <p:nvPicPr>
          <p:cNvPr id="7" name="Picture 6">
            <a:extLst>
              <a:ext uri="{FF2B5EF4-FFF2-40B4-BE49-F238E27FC236}">
                <a16:creationId xmlns:a16="http://schemas.microsoft.com/office/drawing/2014/main" id="{7A296C6C-BFC7-2224-5C3B-DA8708839743}"/>
              </a:ext>
            </a:extLst>
          </p:cNvPr>
          <p:cNvPicPr>
            <a:picLocks noChangeAspect="1"/>
          </p:cNvPicPr>
          <p:nvPr/>
        </p:nvPicPr>
        <p:blipFill>
          <a:blip r:embed="rId2"/>
          <a:stretch>
            <a:fillRect/>
          </a:stretch>
        </p:blipFill>
        <p:spPr>
          <a:xfrm>
            <a:off x="7144468" y="1697509"/>
            <a:ext cx="1789798" cy="432367"/>
          </a:xfrm>
          <a:prstGeom prst="rect">
            <a:avLst/>
          </a:prstGeom>
        </p:spPr>
      </p:pic>
      <p:sp>
        <p:nvSpPr>
          <p:cNvPr id="9" name="TextBox 8">
            <a:extLst>
              <a:ext uri="{FF2B5EF4-FFF2-40B4-BE49-F238E27FC236}">
                <a16:creationId xmlns:a16="http://schemas.microsoft.com/office/drawing/2014/main" id="{52C6B3C9-6B00-4851-5BFB-6B8E113D03A4}"/>
              </a:ext>
            </a:extLst>
          </p:cNvPr>
          <p:cNvSpPr txBox="1"/>
          <p:nvPr/>
        </p:nvSpPr>
        <p:spPr>
          <a:xfrm>
            <a:off x="564775" y="2521469"/>
            <a:ext cx="6395196" cy="369332"/>
          </a:xfrm>
          <a:prstGeom prst="rect">
            <a:avLst/>
          </a:prstGeom>
          <a:noFill/>
        </p:spPr>
        <p:txBody>
          <a:bodyPr wrap="square">
            <a:spAutoFit/>
          </a:bodyPr>
          <a:lstStyle/>
          <a:p>
            <a:r>
              <a:rPr lang="en-US" sz="1800" b="0" i="0" u="none" strike="noStrike" dirty="0">
                <a:solidFill>
                  <a:srgbClr val="000000"/>
                </a:solidFill>
                <a:effectLst/>
                <a:latin typeface="Arial" panose="020B0604020202020204" pitchFamily="34" charset="0"/>
              </a:rPr>
              <a:t>The least-squares solution for G is computed as:</a:t>
            </a:r>
            <a:endParaRPr lang="en-IN" dirty="0"/>
          </a:p>
        </p:txBody>
      </p:sp>
      <p:pic>
        <p:nvPicPr>
          <p:cNvPr id="11" name="Picture 10">
            <a:extLst>
              <a:ext uri="{FF2B5EF4-FFF2-40B4-BE49-F238E27FC236}">
                <a16:creationId xmlns:a16="http://schemas.microsoft.com/office/drawing/2014/main" id="{F1DB096A-DB8F-3E73-1665-87F66DC196B0}"/>
              </a:ext>
            </a:extLst>
          </p:cNvPr>
          <p:cNvPicPr>
            <a:picLocks noChangeAspect="1"/>
          </p:cNvPicPr>
          <p:nvPr/>
        </p:nvPicPr>
        <p:blipFill>
          <a:blip r:embed="rId3"/>
          <a:stretch>
            <a:fillRect/>
          </a:stretch>
        </p:blipFill>
        <p:spPr>
          <a:xfrm>
            <a:off x="5587885" y="2423782"/>
            <a:ext cx="6094879" cy="651685"/>
          </a:xfrm>
          <a:prstGeom prst="rect">
            <a:avLst/>
          </a:prstGeom>
        </p:spPr>
      </p:pic>
      <p:sp>
        <p:nvSpPr>
          <p:cNvPr id="13" name="TextBox 12">
            <a:extLst>
              <a:ext uri="{FF2B5EF4-FFF2-40B4-BE49-F238E27FC236}">
                <a16:creationId xmlns:a16="http://schemas.microsoft.com/office/drawing/2014/main" id="{5E83CB0A-6E08-9067-7D9E-1F72D7945558}"/>
              </a:ext>
            </a:extLst>
          </p:cNvPr>
          <p:cNvSpPr txBox="1"/>
          <p:nvPr/>
        </p:nvSpPr>
        <p:spPr>
          <a:xfrm>
            <a:off x="564775" y="3168412"/>
            <a:ext cx="6579693" cy="369332"/>
          </a:xfrm>
          <a:prstGeom prst="rect">
            <a:avLst/>
          </a:prstGeom>
          <a:noFill/>
        </p:spPr>
        <p:txBody>
          <a:bodyPr wrap="square">
            <a:spAutoFit/>
          </a:bodyPr>
          <a:lstStyle/>
          <a:p>
            <a:r>
              <a:rPr lang="en-US" sz="1800" b="0" i="0" u="none" strike="noStrike" dirty="0">
                <a:solidFill>
                  <a:srgbClr val="000000"/>
                </a:solidFill>
                <a:effectLst/>
                <a:latin typeface="Arial" panose="020B0604020202020204" pitchFamily="34" charset="0"/>
              </a:rPr>
              <a:t>The final approximations of the system dynamics matrices are:</a:t>
            </a:r>
            <a:endParaRPr lang="en-IN" dirty="0"/>
          </a:p>
        </p:txBody>
      </p:sp>
      <p:pic>
        <p:nvPicPr>
          <p:cNvPr id="15" name="Picture 14">
            <a:extLst>
              <a:ext uri="{FF2B5EF4-FFF2-40B4-BE49-F238E27FC236}">
                <a16:creationId xmlns:a16="http://schemas.microsoft.com/office/drawing/2014/main" id="{D8A0CA4B-2871-40F3-6C91-F10587118C92}"/>
              </a:ext>
            </a:extLst>
          </p:cNvPr>
          <p:cNvPicPr>
            <a:picLocks noChangeAspect="1"/>
          </p:cNvPicPr>
          <p:nvPr/>
        </p:nvPicPr>
        <p:blipFill>
          <a:blip r:embed="rId4"/>
          <a:stretch>
            <a:fillRect/>
          </a:stretch>
        </p:blipFill>
        <p:spPr>
          <a:xfrm>
            <a:off x="7164678" y="3168412"/>
            <a:ext cx="3990020" cy="1100422"/>
          </a:xfrm>
          <a:prstGeom prst="rect">
            <a:avLst/>
          </a:prstGeom>
        </p:spPr>
      </p:pic>
      <p:pic>
        <p:nvPicPr>
          <p:cNvPr id="17" name="Picture 16">
            <a:extLst>
              <a:ext uri="{FF2B5EF4-FFF2-40B4-BE49-F238E27FC236}">
                <a16:creationId xmlns:a16="http://schemas.microsoft.com/office/drawing/2014/main" id="{4E7BBBCD-50EF-92CE-9296-C51584F9FB99}"/>
              </a:ext>
            </a:extLst>
          </p:cNvPr>
          <p:cNvPicPr>
            <a:picLocks noChangeAspect="1"/>
          </p:cNvPicPr>
          <p:nvPr/>
        </p:nvPicPr>
        <p:blipFill>
          <a:blip r:embed="rId5"/>
          <a:stretch>
            <a:fillRect/>
          </a:stretch>
        </p:blipFill>
        <p:spPr>
          <a:xfrm>
            <a:off x="712693" y="4264547"/>
            <a:ext cx="6333566" cy="1943200"/>
          </a:xfrm>
          <a:prstGeom prst="rect">
            <a:avLst/>
          </a:prstGeom>
        </p:spPr>
      </p:pic>
    </p:spTree>
    <p:extLst>
      <p:ext uri="{BB962C8B-B14F-4D97-AF65-F5344CB8AC3E}">
        <p14:creationId xmlns:p14="http://schemas.microsoft.com/office/powerpoint/2010/main" val="2841511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45549-18F9-D1A0-CD91-AF79EA0F8C72}"/>
              </a:ext>
            </a:extLst>
          </p:cNvPr>
          <p:cNvSpPr>
            <a:spLocks noGrp="1"/>
          </p:cNvSpPr>
          <p:nvPr>
            <p:ph type="title"/>
          </p:nvPr>
        </p:nvSpPr>
        <p:spPr/>
        <p:txBody>
          <a:bodyPr/>
          <a:lstStyle/>
          <a:p>
            <a:r>
              <a:rPr lang="en-IN" b="1" dirty="0"/>
              <a:t>Implementation</a:t>
            </a:r>
          </a:p>
        </p:txBody>
      </p:sp>
      <p:pic>
        <p:nvPicPr>
          <p:cNvPr id="5" name="Picture 4">
            <a:extLst>
              <a:ext uri="{FF2B5EF4-FFF2-40B4-BE49-F238E27FC236}">
                <a16:creationId xmlns:a16="http://schemas.microsoft.com/office/drawing/2014/main" id="{A36350C8-E637-3B9A-5864-C8453D3D934A}"/>
              </a:ext>
            </a:extLst>
          </p:cNvPr>
          <p:cNvPicPr>
            <a:picLocks noChangeAspect="1"/>
          </p:cNvPicPr>
          <p:nvPr/>
        </p:nvPicPr>
        <p:blipFill>
          <a:blip r:embed="rId2">
            <a:alphaModFix amt="5000"/>
          </a:blip>
          <a:stretch>
            <a:fillRect/>
          </a:stretch>
        </p:blipFill>
        <p:spPr>
          <a:xfrm>
            <a:off x="4345119" y="797019"/>
            <a:ext cx="7402687" cy="5191679"/>
          </a:xfrm>
          <a:prstGeom prst="rect">
            <a:avLst/>
          </a:prstGeom>
        </p:spPr>
      </p:pic>
      <p:sp>
        <p:nvSpPr>
          <p:cNvPr id="3" name="Content Placeholder 2">
            <a:extLst>
              <a:ext uri="{FF2B5EF4-FFF2-40B4-BE49-F238E27FC236}">
                <a16:creationId xmlns:a16="http://schemas.microsoft.com/office/drawing/2014/main" id="{D18C9CBA-5E6C-F1A9-3303-EE140D4B95E4}"/>
              </a:ext>
            </a:extLst>
          </p:cNvPr>
          <p:cNvSpPr>
            <a:spLocks noGrp="1"/>
          </p:cNvSpPr>
          <p:nvPr>
            <p:ph idx="1"/>
          </p:nvPr>
        </p:nvSpPr>
        <p:spPr>
          <a:xfrm>
            <a:off x="838200" y="2224385"/>
            <a:ext cx="10515600" cy="3626399"/>
          </a:xfrm>
        </p:spPr>
        <p:txBody>
          <a:bodyPr/>
          <a:lstStyle/>
          <a:p>
            <a:r>
              <a:rPr lang="en-US" dirty="0"/>
              <a:t>Oscillation location is simulated on MATLAB R2024a environment, implemented on a computer system with Intel Core i7-10700 2.90 GHz CPU and 32 GB RAM.</a:t>
            </a:r>
          </a:p>
          <a:p>
            <a:r>
              <a:rPr lang="en-US" dirty="0"/>
              <a:t>The proposed algorithm is applied on the simulation data in WECC 179 and 240 bus systems.</a:t>
            </a:r>
          </a:p>
          <a:p>
            <a:r>
              <a:rPr lang="en-US" dirty="0"/>
              <a:t>Also, on a real case in ISO-NE validate the effectiveness of the proposed method.</a:t>
            </a:r>
            <a:endParaRPr lang="en-IN" dirty="0"/>
          </a:p>
        </p:txBody>
      </p:sp>
    </p:spTree>
    <p:extLst>
      <p:ext uri="{BB962C8B-B14F-4D97-AF65-F5344CB8AC3E}">
        <p14:creationId xmlns:p14="http://schemas.microsoft.com/office/powerpoint/2010/main" val="4261138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297FF-614F-D955-B844-FA38AF27989C}"/>
              </a:ext>
            </a:extLst>
          </p:cNvPr>
          <p:cNvSpPr>
            <a:spLocks noGrp="1"/>
          </p:cNvSpPr>
          <p:nvPr>
            <p:ph type="title"/>
          </p:nvPr>
        </p:nvSpPr>
        <p:spPr>
          <a:xfrm>
            <a:off x="453762" y="365125"/>
            <a:ext cx="10900038" cy="1325563"/>
          </a:xfrm>
        </p:spPr>
        <p:txBody>
          <a:bodyPr/>
          <a:lstStyle/>
          <a:p>
            <a:r>
              <a:rPr lang="en-IN" b="1" dirty="0"/>
              <a:t>Proposed oscillation source location framework</a:t>
            </a:r>
          </a:p>
        </p:txBody>
      </p:sp>
      <p:pic>
        <p:nvPicPr>
          <p:cNvPr id="6" name="Picture 5">
            <a:extLst>
              <a:ext uri="{FF2B5EF4-FFF2-40B4-BE49-F238E27FC236}">
                <a16:creationId xmlns:a16="http://schemas.microsoft.com/office/drawing/2014/main" id="{DC0461A7-0E4A-EC5D-15EC-A0B0F800A159}"/>
              </a:ext>
            </a:extLst>
          </p:cNvPr>
          <p:cNvPicPr>
            <a:picLocks noChangeAspect="1"/>
          </p:cNvPicPr>
          <p:nvPr/>
        </p:nvPicPr>
        <p:blipFill>
          <a:blip r:embed="rId2"/>
          <a:stretch>
            <a:fillRect/>
          </a:stretch>
        </p:blipFill>
        <p:spPr>
          <a:xfrm>
            <a:off x="1766455" y="1566726"/>
            <a:ext cx="8797636" cy="4977465"/>
          </a:xfrm>
          <a:prstGeom prst="rect">
            <a:avLst/>
          </a:prstGeom>
        </p:spPr>
      </p:pic>
    </p:spTree>
    <p:extLst>
      <p:ext uri="{BB962C8B-B14F-4D97-AF65-F5344CB8AC3E}">
        <p14:creationId xmlns:p14="http://schemas.microsoft.com/office/powerpoint/2010/main" val="2137762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A680B-6CC2-C028-A833-BA884BD1CF40}"/>
              </a:ext>
            </a:extLst>
          </p:cNvPr>
          <p:cNvPicPr>
            <a:picLocks noChangeAspect="1"/>
          </p:cNvPicPr>
          <p:nvPr/>
        </p:nvPicPr>
        <p:blipFill>
          <a:blip r:embed="rId2"/>
          <a:stretch>
            <a:fillRect/>
          </a:stretch>
        </p:blipFill>
        <p:spPr>
          <a:xfrm>
            <a:off x="1073728" y="152231"/>
            <a:ext cx="9822872" cy="65535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35293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E6906B-BB3B-9F34-0135-AA370BE03871}"/>
              </a:ext>
            </a:extLst>
          </p:cNvPr>
          <p:cNvPicPr>
            <a:picLocks noChangeAspect="1"/>
          </p:cNvPicPr>
          <p:nvPr/>
        </p:nvPicPr>
        <p:blipFill>
          <a:blip r:embed="rId2"/>
          <a:stretch>
            <a:fillRect/>
          </a:stretch>
        </p:blipFill>
        <p:spPr>
          <a:xfrm>
            <a:off x="558515" y="685659"/>
            <a:ext cx="11074969" cy="5486682"/>
          </a:xfrm>
          <a:prstGeom prst="rect">
            <a:avLst/>
          </a:prstGeom>
        </p:spPr>
      </p:pic>
      <p:sp>
        <p:nvSpPr>
          <p:cNvPr id="9" name="TextBox 8">
            <a:extLst>
              <a:ext uri="{FF2B5EF4-FFF2-40B4-BE49-F238E27FC236}">
                <a16:creationId xmlns:a16="http://schemas.microsoft.com/office/drawing/2014/main" id="{24D4FA51-15F8-AFD2-1530-17C54D5E5187}"/>
              </a:ext>
            </a:extLst>
          </p:cNvPr>
          <p:cNvSpPr txBox="1"/>
          <p:nvPr/>
        </p:nvSpPr>
        <p:spPr>
          <a:xfrm>
            <a:off x="728771" y="158129"/>
            <a:ext cx="4283242" cy="584775"/>
          </a:xfrm>
          <a:prstGeom prst="rect">
            <a:avLst/>
          </a:prstGeom>
          <a:noFill/>
        </p:spPr>
        <p:txBody>
          <a:bodyPr wrap="square" rtlCol="0">
            <a:spAutoFit/>
          </a:bodyPr>
          <a:lstStyle/>
          <a:p>
            <a:r>
              <a:rPr lang="en-IN" sz="3200" dirty="0">
                <a:solidFill>
                  <a:srgbClr val="0070C0"/>
                </a:solidFill>
              </a:rPr>
              <a:t>Example</a:t>
            </a:r>
            <a:endParaRPr lang="en-IN" dirty="0">
              <a:solidFill>
                <a:srgbClr val="0070C0"/>
              </a:solidFill>
            </a:endParaRPr>
          </a:p>
        </p:txBody>
      </p:sp>
      <p:pic>
        <p:nvPicPr>
          <p:cNvPr id="3" name="Picture 2">
            <a:extLst>
              <a:ext uri="{FF2B5EF4-FFF2-40B4-BE49-F238E27FC236}">
                <a16:creationId xmlns:a16="http://schemas.microsoft.com/office/drawing/2014/main" id="{73BF0EF7-3407-32F9-1037-2D69B564B23E}"/>
              </a:ext>
            </a:extLst>
          </p:cNvPr>
          <p:cNvPicPr>
            <a:picLocks noChangeAspect="1"/>
          </p:cNvPicPr>
          <p:nvPr/>
        </p:nvPicPr>
        <p:blipFill>
          <a:blip r:embed="rId3"/>
          <a:stretch>
            <a:fillRect/>
          </a:stretch>
        </p:blipFill>
        <p:spPr>
          <a:xfrm>
            <a:off x="2199690" y="1654546"/>
            <a:ext cx="2292468" cy="400071"/>
          </a:xfrm>
          <a:prstGeom prst="rect">
            <a:avLst/>
          </a:prstGeom>
        </p:spPr>
      </p:pic>
    </p:spTree>
    <p:extLst>
      <p:ext uri="{BB962C8B-B14F-4D97-AF65-F5344CB8AC3E}">
        <p14:creationId xmlns:p14="http://schemas.microsoft.com/office/powerpoint/2010/main" val="371031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3524D-032E-8E1A-0C37-64607C832F43}"/>
              </a:ext>
            </a:extLst>
          </p:cNvPr>
          <p:cNvSpPr>
            <a:spLocks noGrp="1"/>
          </p:cNvSpPr>
          <p:nvPr>
            <p:ph type="title"/>
          </p:nvPr>
        </p:nvSpPr>
        <p:spPr>
          <a:xfrm>
            <a:off x="838200" y="365125"/>
            <a:ext cx="11117752" cy="1325563"/>
          </a:xfrm>
        </p:spPr>
        <p:txBody>
          <a:bodyPr>
            <a:normAutofit/>
          </a:bodyPr>
          <a:lstStyle/>
          <a:p>
            <a:r>
              <a:rPr lang="en-IN" sz="3200" dirty="0"/>
              <a:t>Computation of full time Oscillation Contribution factor(OCF)</a:t>
            </a:r>
          </a:p>
        </p:txBody>
      </p:sp>
      <p:pic>
        <p:nvPicPr>
          <p:cNvPr id="5" name="Content Placeholder 4">
            <a:extLst>
              <a:ext uri="{FF2B5EF4-FFF2-40B4-BE49-F238E27FC236}">
                <a16:creationId xmlns:a16="http://schemas.microsoft.com/office/drawing/2014/main" id="{13D25939-815A-AAB9-1F27-B386F73AAD19}"/>
              </a:ext>
            </a:extLst>
          </p:cNvPr>
          <p:cNvPicPr>
            <a:picLocks noGrp="1" noChangeAspect="1"/>
          </p:cNvPicPr>
          <p:nvPr>
            <p:ph idx="1"/>
          </p:nvPr>
        </p:nvPicPr>
        <p:blipFill>
          <a:blip r:embed="rId2"/>
          <a:stretch>
            <a:fillRect/>
          </a:stretch>
        </p:blipFill>
        <p:spPr>
          <a:xfrm>
            <a:off x="1018309" y="1690687"/>
            <a:ext cx="6602910" cy="32113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C7322C11-06A1-BC72-9915-48F575ED8BF5}"/>
              </a:ext>
            </a:extLst>
          </p:cNvPr>
          <p:cNvSpPr txBox="1"/>
          <p:nvPr/>
        </p:nvSpPr>
        <p:spPr>
          <a:xfrm>
            <a:off x="3685309" y="5552278"/>
            <a:ext cx="6096000" cy="707886"/>
          </a:xfrm>
          <a:prstGeom prst="rect">
            <a:avLst/>
          </a:prstGeom>
          <a:noFill/>
        </p:spPr>
        <p:txBody>
          <a:bodyPr wrap="square">
            <a:spAutoFit/>
          </a:bodyPr>
          <a:lstStyle/>
          <a:p>
            <a:r>
              <a:rPr lang="en-US" sz="2000" dirty="0"/>
              <a:t>Where the subscript ft means the full-time, and the mode magnitudes are separated into                and</a:t>
            </a:r>
            <a:endParaRPr lang="en-IN" sz="2000" dirty="0"/>
          </a:p>
        </p:txBody>
      </p:sp>
      <p:pic>
        <p:nvPicPr>
          <p:cNvPr id="4" name="Picture 3">
            <a:extLst>
              <a:ext uri="{FF2B5EF4-FFF2-40B4-BE49-F238E27FC236}">
                <a16:creationId xmlns:a16="http://schemas.microsoft.com/office/drawing/2014/main" id="{B74DC67E-2B14-6501-BD21-197A5ABD7AE8}"/>
              </a:ext>
            </a:extLst>
          </p:cNvPr>
          <p:cNvPicPr>
            <a:picLocks noChangeAspect="1"/>
          </p:cNvPicPr>
          <p:nvPr/>
        </p:nvPicPr>
        <p:blipFill>
          <a:blip r:embed="rId3"/>
          <a:stretch>
            <a:fillRect/>
          </a:stretch>
        </p:blipFill>
        <p:spPr>
          <a:xfrm>
            <a:off x="7611353" y="5845089"/>
            <a:ext cx="817628" cy="352348"/>
          </a:xfrm>
          <a:prstGeom prst="rect">
            <a:avLst/>
          </a:prstGeom>
        </p:spPr>
      </p:pic>
      <p:pic>
        <p:nvPicPr>
          <p:cNvPr id="8" name="Picture 7">
            <a:extLst>
              <a:ext uri="{FF2B5EF4-FFF2-40B4-BE49-F238E27FC236}">
                <a16:creationId xmlns:a16="http://schemas.microsoft.com/office/drawing/2014/main" id="{2A269D89-7BD1-65A0-4C9B-039FBE4A3FE8}"/>
              </a:ext>
            </a:extLst>
          </p:cNvPr>
          <p:cNvPicPr>
            <a:picLocks noChangeAspect="1"/>
          </p:cNvPicPr>
          <p:nvPr/>
        </p:nvPicPr>
        <p:blipFill>
          <a:blip r:embed="rId4"/>
          <a:stretch>
            <a:fillRect/>
          </a:stretch>
        </p:blipFill>
        <p:spPr>
          <a:xfrm>
            <a:off x="8971497" y="5845089"/>
            <a:ext cx="817628" cy="382608"/>
          </a:xfrm>
          <a:prstGeom prst="rect">
            <a:avLst/>
          </a:prstGeom>
        </p:spPr>
      </p:pic>
    </p:spTree>
    <p:extLst>
      <p:ext uri="{BB962C8B-B14F-4D97-AF65-F5344CB8AC3E}">
        <p14:creationId xmlns:p14="http://schemas.microsoft.com/office/powerpoint/2010/main" val="3620850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8547F-B950-4CD6-588C-643B232F192C}"/>
              </a:ext>
            </a:extLst>
          </p:cNvPr>
          <p:cNvSpPr>
            <a:spLocks noGrp="1"/>
          </p:cNvSpPr>
          <p:nvPr>
            <p:ph type="title"/>
          </p:nvPr>
        </p:nvSpPr>
        <p:spPr>
          <a:xfrm>
            <a:off x="838200" y="365125"/>
            <a:ext cx="5257800" cy="736311"/>
          </a:xfrm>
        </p:spPr>
        <p:txBody>
          <a:bodyPr/>
          <a:lstStyle/>
          <a:p>
            <a:r>
              <a:rPr lang="en-IN" dirty="0"/>
              <a:t>Normalisation</a:t>
            </a:r>
          </a:p>
        </p:txBody>
      </p:sp>
      <p:pic>
        <p:nvPicPr>
          <p:cNvPr id="5" name="Picture 4">
            <a:extLst>
              <a:ext uri="{FF2B5EF4-FFF2-40B4-BE49-F238E27FC236}">
                <a16:creationId xmlns:a16="http://schemas.microsoft.com/office/drawing/2014/main" id="{5C0A5D79-594F-241C-BA7E-029C6F3B6785}"/>
              </a:ext>
            </a:extLst>
          </p:cNvPr>
          <p:cNvPicPr>
            <a:picLocks noChangeAspect="1"/>
          </p:cNvPicPr>
          <p:nvPr/>
        </p:nvPicPr>
        <p:blipFill>
          <a:blip r:embed="rId2"/>
          <a:stretch>
            <a:fillRect/>
          </a:stretch>
        </p:blipFill>
        <p:spPr>
          <a:xfrm>
            <a:off x="976643" y="1228694"/>
            <a:ext cx="3962604" cy="596931"/>
          </a:xfrm>
          <a:prstGeom prst="rect">
            <a:avLst/>
          </a:prstGeom>
        </p:spPr>
      </p:pic>
      <p:pic>
        <p:nvPicPr>
          <p:cNvPr id="8" name="Picture 7">
            <a:extLst>
              <a:ext uri="{FF2B5EF4-FFF2-40B4-BE49-F238E27FC236}">
                <a16:creationId xmlns:a16="http://schemas.microsoft.com/office/drawing/2014/main" id="{8EF03521-7755-02C2-2950-B2CA95D80CB9}"/>
              </a:ext>
            </a:extLst>
          </p:cNvPr>
          <p:cNvPicPr>
            <a:picLocks noChangeAspect="1"/>
          </p:cNvPicPr>
          <p:nvPr/>
        </p:nvPicPr>
        <p:blipFill>
          <a:blip r:embed="rId3"/>
          <a:stretch>
            <a:fillRect/>
          </a:stretch>
        </p:blipFill>
        <p:spPr>
          <a:xfrm>
            <a:off x="746370" y="994630"/>
            <a:ext cx="8314503" cy="2368614"/>
          </a:xfrm>
          <a:prstGeom prst="rect">
            <a:avLst/>
          </a:prstGeom>
        </p:spPr>
      </p:pic>
      <p:pic>
        <p:nvPicPr>
          <p:cNvPr id="10" name="Picture 9">
            <a:extLst>
              <a:ext uri="{FF2B5EF4-FFF2-40B4-BE49-F238E27FC236}">
                <a16:creationId xmlns:a16="http://schemas.microsoft.com/office/drawing/2014/main" id="{563C6F3F-F374-EDAA-B456-1812FD853D4F}"/>
              </a:ext>
            </a:extLst>
          </p:cNvPr>
          <p:cNvPicPr>
            <a:picLocks noChangeAspect="1"/>
          </p:cNvPicPr>
          <p:nvPr/>
        </p:nvPicPr>
        <p:blipFill>
          <a:blip r:embed="rId4"/>
          <a:stretch>
            <a:fillRect/>
          </a:stretch>
        </p:blipFill>
        <p:spPr>
          <a:xfrm>
            <a:off x="1073726" y="3719945"/>
            <a:ext cx="7391401" cy="2459182"/>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B9D42C0-2FB8-6D26-B1F3-0D97FC1134A5}"/>
                  </a:ext>
                </a:extLst>
              </p:cNvPr>
              <p:cNvSpPr txBox="1"/>
              <p:nvPr/>
            </p:nvSpPr>
            <p:spPr>
              <a:xfrm>
                <a:off x="838200" y="5994460"/>
                <a:ext cx="11184467" cy="830997"/>
              </a:xfrm>
              <a:prstGeom prst="rect">
                <a:avLst/>
              </a:prstGeom>
              <a:noFill/>
            </p:spPr>
            <p:txBody>
              <a:bodyPr wrap="square">
                <a:spAutoFit/>
              </a:bodyPr>
              <a:lstStyle/>
              <a:p>
                <a:r>
                  <a:rPr lang="en-US" sz="2400" b="1" dirty="0">
                    <a:solidFill>
                      <a:srgbClr val="FF0000"/>
                    </a:solidFill>
                  </a:rPr>
                  <a:t>The bus with the largest </a:t>
                </a:r>
                <a14:m>
                  <m:oMath xmlns:m="http://schemas.openxmlformats.org/officeDocument/2006/math">
                    <m:sSub>
                      <m:sSubPr>
                        <m:ctrlPr>
                          <a:rPr lang="en-US" sz="2400" b="1" i="1" smtClean="0">
                            <a:solidFill>
                              <a:srgbClr val="FF0000"/>
                            </a:solidFill>
                            <a:latin typeface="Cambria Math" panose="02040503050406030204" pitchFamily="18" charset="0"/>
                          </a:rPr>
                        </m:ctrlPr>
                      </m:sSubPr>
                      <m:e>
                        <m:r>
                          <a:rPr lang="en-IN" sz="2400" b="1" i="1" smtClean="0">
                            <a:solidFill>
                              <a:srgbClr val="FF0000"/>
                            </a:solidFill>
                            <a:latin typeface="Cambria Math" panose="02040503050406030204" pitchFamily="18" charset="0"/>
                          </a:rPr>
                          <m:t>𝑶𝑪𝑭</m:t>
                        </m:r>
                      </m:e>
                      <m:sub>
                        <m:r>
                          <a:rPr lang="en-IN" sz="2400" b="1" i="1" smtClean="0">
                            <a:solidFill>
                              <a:srgbClr val="FF0000"/>
                            </a:solidFill>
                            <a:latin typeface="Cambria Math" panose="02040503050406030204" pitchFamily="18" charset="0"/>
                          </a:rPr>
                          <m:t>𝒕𝒕</m:t>
                        </m:r>
                      </m:sub>
                    </m:sSub>
                  </m:oMath>
                </a14:m>
                <a:r>
                  <a:rPr lang="en-US" sz="2400" b="1" dirty="0">
                    <a:solidFill>
                      <a:srgbClr val="FF0000"/>
                    </a:solidFill>
                  </a:rPr>
                  <a:t> is considered the oscillation source of the dominant frequency.</a:t>
                </a:r>
                <a:endParaRPr lang="en-IN" sz="2400" b="1" dirty="0">
                  <a:solidFill>
                    <a:srgbClr val="FF0000"/>
                  </a:solidFill>
                </a:endParaRPr>
              </a:p>
            </p:txBody>
          </p:sp>
        </mc:Choice>
        <mc:Fallback xmlns="">
          <p:sp>
            <p:nvSpPr>
              <p:cNvPr id="7" name="TextBox 6">
                <a:extLst>
                  <a:ext uri="{FF2B5EF4-FFF2-40B4-BE49-F238E27FC236}">
                    <a16:creationId xmlns:a16="http://schemas.microsoft.com/office/drawing/2014/main" id="{CB9D42C0-2FB8-6D26-B1F3-0D97FC1134A5}"/>
                  </a:ext>
                </a:extLst>
              </p:cNvPr>
              <p:cNvSpPr txBox="1">
                <a:spLocks noRot="1" noChangeAspect="1" noMove="1" noResize="1" noEditPoints="1" noAdjustHandles="1" noChangeArrowheads="1" noChangeShapeType="1" noTextEdit="1"/>
              </p:cNvSpPr>
              <p:nvPr/>
            </p:nvSpPr>
            <p:spPr>
              <a:xfrm>
                <a:off x="838200" y="5994460"/>
                <a:ext cx="11184467" cy="830997"/>
              </a:xfrm>
              <a:prstGeom prst="rect">
                <a:avLst/>
              </a:prstGeom>
              <a:blipFill>
                <a:blip r:embed="rId5"/>
                <a:stretch>
                  <a:fillRect l="-872" t="-5839" b="-15328"/>
                </a:stretch>
              </a:blipFill>
            </p:spPr>
            <p:txBody>
              <a:bodyPr/>
              <a:lstStyle/>
              <a:p>
                <a:r>
                  <a:rPr lang="en-IN">
                    <a:noFill/>
                  </a:rPr>
                  <a:t> </a:t>
                </a:r>
              </a:p>
            </p:txBody>
          </p:sp>
        </mc:Fallback>
      </mc:AlternateContent>
    </p:spTree>
    <p:extLst>
      <p:ext uri="{BB962C8B-B14F-4D97-AF65-F5344CB8AC3E}">
        <p14:creationId xmlns:p14="http://schemas.microsoft.com/office/powerpoint/2010/main" val="2517166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1EA63-101E-BCF3-4234-29F990DE318F}"/>
              </a:ext>
            </a:extLst>
          </p:cNvPr>
          <p:cNvSpPr>
            <a:spLocks noGrp="1"/>
          </p:cNvSpPr>
          <p:nvPr>
            <p:ph type="title"/>
          </p:nvPr>
        </p:nvSpPr>
        <p:spPr>
          <a:xfrm>
            <a:off x="838200" y="365125"/>
            <a:ext cx="10515600" cy="652403"/>
          </a:xfrm>
        </p:spPr>
        <p:txBody>
          <a:bodyPr>
            <a:normAutofit fontScale="90000"/>
          </a:bodyPr>
          <a:lstStyle/>
          <a:p>
            <a:r>
              <a:rPr lang="en-IN" dirty="0"/>
              <a:t>Code to compute the DMD parameters</a:t>
            </a:r>
          </a:p>
        </p:txBody>
      </p:sp>
      <p:pic>
        <p:nvPicPr>
          <p:cNvPr id="5" name="Picture 4">
            <a:extLst>
              <a:ext uri="{FF2B5EF4-FFF2-40B4-BE49-F238E27FC236}">
                <a16:creationId xmlns:a16="http://schemas.microsoft.com/office/drawing/2014/main" id="{3379B392-DC50-2473-8431-C88F97B0F2C2}"/>
              </a:ext>
            </a:extLst>
          </p:cNvPr>
          <p:cNvPicPr>
            <a:picLocks noChangeAspect="1"/>
          </p:cNvPicPr>
          <p:nvPr/>
        </p:nvPicPr>
        <p:blipFill>
          <a:blip r:embed="rId2"/>
          <a:stretch>
            <a:fillRect/>
          </a:stretch>
        </p:blipFill>
        <p:spPr>
          <a:xfrm>
            <a:off x="1165382" y="1177155"/>
            <a:ext cx="9532410" cy="51986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89200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B5558-F203-D76D-C775-3F68F07FD7AA}"/>
              </a:ext>
            </a:extLst>
          </p:cNvPr>
          <p:cNvSpPr>
            <a:spLocks noGrp="1"/>
          </p:cNvSpPr>
          <p:nvPr>
            <p:ph type="title"/>
          </p:nvPr>
        </p:nvSpPr>
        <p:spPr>
          <a:xfrm>
            <a:off x="838200" y="365125"/>
            <a:ext cx="10515600" cy="817407"/>
          </a:xfrm>
        </p:spPr>
        <p:txBody>
          <a:bodyPr>
            <a:normAutofit/>
          </a:bodyPr>
          <a:lstStyle/>
          <a:p>
            <a:r>
              <a:rPr lang="en-IN" sz="3600" dirty="0"/>
              <a:t>MATLAB Function to get Eigen value and Eigen vector</a:t>
            </a:r>
          </a:p>
        </p:txBody>
      </p:sp>
      <p:pic>
        <p:nvPicPr>
          <p:cNvPr id="5" name="Picture 4">
            <a:extLst>
              <a:ext uri="{FF2B5EF4-FFF2-40B4-BE49-F238E27FC236}">
                <a16:creationId xmlns:a16="http://schemas.microsoft.com/office/drawing/2014/main" id="{4795EB1F-BEEF-C9F5-0429-0A9A1651E99F}"/>
              </a:ext>
            </a:extLst>
          </p:cNvPr>
          <p:cNvPicPr>
            <a:picLocks noChangeAspect="1"/>
          </p:cNvPicPr>
          <p:nvPr/>
        </p:nvPicPr>
        <p:blipFill>
          <a:blip r:embed="rId2"/>
          <a:stretch>
            <a:fillRect/>
          </a:stretch>
        </p:blipFill>
        <p:spPr>
          <a:xfrm>
            <a:off x="928122" y="1773799"/>
            <a:ext cx="8153217" cy="26056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49530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92000">
              <a:schemeClr val="bg1"/>
            </a:gs>
            <a:gs pos="0">
              <a:schemeClr val="bg1"/>
            </a:gs>
            <a:gs pos="86000">
              <a:schemeClr val="bg1"/>
            </a:gs>
            <a:gs pos="23000">
              <a:schemeClr val="bg1">
                <a:lumMod val="95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4208D-8986-B891-45D0-0CB35C472FCA}"/>
              </a:ext>
            </a:extLst>
          </p:cNvPr>
          <p:cNvSpPr>
            <a:spLocks noGrp="1"/>
          </p:cNvSpPr>
          <p:nvPr>
            <p:ph type="title"/>
          </p:nvPr>
        </p:nvSpPr>
        <p:spPr/>
        <p:txBody>
          <a:bodyPr/>
          <a:lstStyle/>
          <a:p>
            <a:r>
              <a:rPr lang="en-IN" dirty="0">
                <a:solidFill>
                  <a:srgbClr val="002060"/>
                </a:solidFill>
              </a:rPr>
              <a:t>Conclusion</a:t>
            </a:r>
          </a:p>
        </p:txBody>
      </p:sp>
      <p:sp>
        <p:nvSpPr>
          <p:cNvPr id="3" name="Content Placeholder 2">
            <a:extLst>
              <a:ext uri="{FF2B5EF4-FFF2-40B4-BE49-F238E27FC236}">
                <a16:creationId xmlns:a16="http://schemas.microsoft.com/office/drawing/2014/main" id="{2895AE9B-40B2-A6E9-428A-87AE4B42A414}"/>
              </a:ext>
            </a:extLst>
          </p:cNvPr>
          <p:cNvSpPr>
            <a:spLocks noGrp="1"/>
          </p:cNvSpPr>
          <p:nvPr>
            <p:ph idx="1"/>
          </p:nvPr>
        </p:nvSpPr>
        <p:spPr/>
        <p:txBody>
          <a:bodyPr/>
          <a:lstStyle/>
          <a:p>
            <a:r>
              <a:rPr lang="en-US" dirty="0"/>
              <a:t>An improved DMD-based approach to locate the oscillation source beyond the conventional usage of DMD to identify the oscillation modes.</a:t>
            </a:r>
          </a:p>
          <a:p>
            <a:r>
              <a:rPr lang="en-US" dirty="0"/>
              <a:t>Motivated by the structural limitation of the original DMD in locating the forced oscillations with unusual patterns, we have reformulated the DMD with control (DMDc) by replacing the control input with the initial state of the measurements.</a:t>
            </a:r>
          </a:p>
          <a:p>
            <a:r>
              <a:rPr lang="en-US" dirty="0"/>
              <a:t>The two-tier structure and corresponding normalized contribution factor help to enhance the accuracy and robustness by analyzing the spatial distribution of the energy in the initial stage of the oscillation.</a:t>
            </a:r>
          </a:p>
          <a:p>
            <a:endParaRPr lang="en-IN" dirty="0"/>
          </a:p>
        </p:txBody>
      </p:sp>
    </p:spTree>
    <p:extLst>
      <p:ext uri="{BB962C8B-B14F-4D97-AF65-F5344CB8AC3E}">
        <p14:creationId xmlns:p14="http://schemas.microsoft.com/office/powerpoint/2010/main" val="832743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1940</TotalTime>
  <Words>629</Words>
  <Application>Microsoft Office PowerPoint</Application>
  <PresentationFormat>Widescreen</PresentationFormat>
  <Paragraphs>53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PowerPoint Presentation</vt:lpstr>
      <vt:lpstr>Objective of our paper</vt:lpstr>
      <vt:lpstr>Dynamic Mode Decomposition (DMD) </vt:lpstr>
      <vt:lpstr>PowerPoint Presentation</vt:lpstr>
      <vt:lpstr>DMD through Singular Value Decomposition (SVD) </vt:lpstr>
      <vt:lpstr>Truncated SVD: Further reduces dimensionality by keeping only the most significant r modes.</vt:lpstr>
      <vt:lpstr>Computing the DMD Operator</vt:lpstr>
      <vt:lpstr>Improved Dynamic Mode Decomposition (DMD) </vt:lpstr>
      <vt:lpstr>PowerPoint Presentation</vt:lpstr>
      <vt:lpstr>SVD-Based Decomposition </vt:lpstr>
      <vt:lpstr>Implementation</vt:lpstr>
      <vt:lpstr>Proposed oscillation source location framework</vt:lpstr>
      <vt:lpstr>PowerPoint Presentation</vt:lpstr>
      <vt:lpstr>PowerPoint Presentation</vt:lpstr>
      <vt:lpstr>Computation of full time Oscillation Contribution factor(OCF)</vt:lpstr>
      <vt:lpstr>Normalisation</vt:lpstr>
      <vt:lpstr>Code to compute the DMD parameters</vt:lpstr>
      <vt:lpstr>MATLAB Function to get Eigen value and Eigen vector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pratik bheda</dc:creator>
  <cp:lastModifiedBy>rohit2909agarwal@outlook.com</cp:lastModifiedBy>
  <cp:revision>6</cp:revision>
  <dcterms:created xsi:type="dcterms:W3CDTF">2025-03-25T19:47:53Z</dcterms:created>
  <dcterms:modified xsi:type="dcterms:W3CDTF">2025-03-27T08:06:24Z</dcterms:modified>
</cp:coreProperties>
</file>